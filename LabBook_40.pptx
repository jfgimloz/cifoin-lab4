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31"/>
  </p:notesMasterIdLst>
  <p:handoutMasterIdLst>
    <p:handoutMasterId r:id="rId32"/>
  </p:handoutMasterIdLst>
  <p:sldIdLst>
    <p:sldId id="256" r:id="rId5"/>
    <p:sldId id="289" r:id="rId6"/>
    <p:sldId id="290" r:id="rId7"/>
    <p:sldId id="291" r:id="rId8"/>
    <p:sldId id="296" r:id="rId9"/>
    <p:sldId id="297" r:id="rId10"/>
    <p:sldId id="298" r:id="rId11"/>
    <p:sldId id="292" r:id="rId12"/>
    <p:sldId id="293" r:id="rId13"/>
    <p:sldId id="299" r:id="rId14"/>
    <p:sldId id="300" r:id="rId15"/>
    <p:sldId id="301" r:id="rId16"/>
    <p:sldId id="294" r:id="rId17"/>
    <p:sldId id="302" r:id="rId18"/>
    <p:sldId id="303" r:id="rId19"/>
    <p:sldId id="304" r:id="rId20"/>
    <p:sldId id="295" r:id="rId21"/>
    <p:sldId id="310" r:id="rId22"/>
    <p:sldId id="305" r:id="rId23"/>
    <p:sldId id="311" r:id="rId24"/>
    <p:sldId id="306" r:id="rId25"/>
    <p:sldId id="307" r:id="rId26"/>
    <p:sldId id="308" r:id="rId27"/>
    <p:sldId id="309" r:id="rId28"/>
    <p:sldId id="312" r:id="rId29"/>
    <p:sldId id="288" r:id="rId30"/>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3F9136-CC3A-4236-9574-E41B7647CA45}" v="41" dt="2026-06-12T09:05:38.20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21" autoAdjust="0"/>
    <p:restoredTop sz="95033" autoAdjust="0"/>
  </p:normalViewPr>
  <p:slideViewPr>
    <p:cSldViewPr>
      <p:cViewPr varScale="1">
        <p:scale>
          <a:sx n="86" d="100"/>
          <a:sy n="86" d="100"/>
        </p:scale>
        <p:origin x="1188" y="9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A2202-7392-D5B0-1280-6D16F5B1FD4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ACF3A8-4C95-5397-E3A9-B9F735C8A9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97C0DC-7D51-0977-59BA-B2B9184A044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C1C178-1ADE-4DB6-44FA-67E3254E0B99}"/>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59639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8BF00-B97F-330A-50C9-8885A60301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819CD9-D61C-7DAF-F9B1-D3D2770037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EF3A1D2-24DD-5858-493F-109755F0C6F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B4C8FE4-857F-EA73-0065-3597EF588729}"/>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3566188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294C-738F-04DF-2EF1-D4CFC70F65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6D1E674-F942-CF81-D72A-CC4DB94406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717292-C113-34C7-F586-B8F4763D4CB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E7E0E01-690C-7009-8059-406AD467A856}"/>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3194617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19C7A-8371-E924-3FC5-1CABC672E3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3917E6-6029-D264-4C21-FAD2DBC614C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2F7191A-B130-1563-1C58-178E7471F24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45B4409-37B2-FF82-A33D-717F88623BCE}"/>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994444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DF626-4C59-341F-B87F-E74C1EF2F0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EF9EDD-4CDD-E768-DD3E-2D4D220B29B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2B8136-3ECC-ABBE-AF18-4B90C1FFC1E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3D61439-E117-A81B-5918-68DBA63B84E1}"/>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233003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E06CC-BED3-98E0-A08A-A37EF24999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D34FDC1-ACB4-E5C7-8255-EA6D528F82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BBD75E-8D56-ACCD-4E15-ED46F326D90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0DBE57-E99D-BB54-3BF4-7770BAF87CB2}"/>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590025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37AB6-4379-DD06-D7BD-F4445FA747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3F5F56-3FCC-4E40-91E9-32FA895C05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C9CDBB-F528-90D6-3C05-E70021217C3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CAE4273-4933-6888-06C0-8556CF3B3D88}"/>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480557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120C6-EBA3-C332-50AD-FE0DD40363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116237-5FD9-0C46-FFA1-152FF9183D3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94943AE-5453-EA6C-E084-F3DB37B2A98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5034433-CBA2-D7B8-50D5-0825DE62725C}"/>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4259001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B8D65-AB66-3CDE-1A03-4E6F85EBE7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D6EB45-38C7-3763-3FD4-D43DFBAC56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61FD5CF-4668-903F-C455-144C54FEE91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29BF71E-1413-474F-82D9-159EF0AC6CEF}"/>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1356940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AD9C4-7150-C618-46E1-1BF19B274D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65E2A4-F115-F92B-B58D-48C35AD14FC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6A5CF6-1705-1CE6-BA6E-15D159BD12F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B6A1351-1E48-114F-F188-59C67EAB966F}"/>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33921881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F790C-4EBA-2AA8-3EE8-5239F0256B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5A0644-87A3-FA12-47E0-4B0CC6A5404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1724B40-5004-9F69-7C41-93794C669FF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B2A5C88-7098-7B68-FAF1-DF50DFE8031A}"/>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995979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22E4F-749C-1BA0-1F16-FFC7F75A9E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492383-4B9A-610F-938E-39BC48FDA7F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2E1B21-6303-6D0F-F7AE-91A00719B05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F8EAE9F-2241-5801-0B26-D59C1F47275B}"/>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3995998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AA7BD-1A87-73BC-5475-C8124617B73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9626D5-6CB0-D72E-6AF4-10DF3C66F7A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1B873A-C30C-4CAF-0F47-52CB22DB279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27E51D7-BE1C-F938-D6DF-6DD3FA80FCED}"/>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23213324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EBC3B-D6B7-A377-4384-FEB29B73F36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3B696C-625F-9492-2A41-54DCA5029D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F9846E-1557-DB56-D59B-25307887A0F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528A06C-D5AA-A79A-12D2-F7328D56D8E1}"/>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29967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8CE67-137D-E72C-EBD8-1B083B78409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574FE2-EF65-A158-777B-ED08E029D8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F40445A-FD56-97C5-C012-5A6CAE6075C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C9C9D3-BE92-C408-6572-C92C9C60E1E3}"/>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4271976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D0937-038B-1728-EB67-DDB2E7A565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E234E0-22DA-9A43-4447-5764CF71D1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ADFD068-C6B1-A5F0-8E26-E7B61638D6B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A7A14C6-4C2A-508F-DD5C-9C6F8912E42F}"/>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1649423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4.0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Antonio Plá Rodríguez i Jaume Giménez Lozano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3"/>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829425" y="1448108"/>
            <a:ext cx="6409575" cy="3785652"/>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Un PDK es una librería que te da la fábrica para que puedas diseñar tu chip de forma segura. Contiene </a:t>
            </a:r>
            <a:r>
              <a:rPr lang="es-ES" sz="1200" dirty="0" err="1">
                <a:latin typeface="Arial" panose="020B0604020202020204" pitchFamily="34" charset="0"/>
                <a:cs typeface="Arial" panose="020B0604020202020204" pitchFamily="34" charset="0"/>
              </a:rPr>
              <a:t>tantao</a:t>
            </a:r>
            <a:r>
              <a:rPr lang="es-ES" sz="1200" dirty="0">
                <a:latin typeface="Arial" panose="020B0604020202020204" pitchFamily="34" charset="0"/>
                <a:cs typeface="Arial" panose="020B0604020202020204" pitchFamily="34" charset="0"/>
              </a:rPr>
              <a:t> reglas de diseño (como radios para que la luz no se escape) como los componentes seguros para diseñar. Si no existiera el PDK, diseñaríamos sin saber las reglas y no sería seguro a la hora de fabricar el chip.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esta imagen podemos ver las capas de un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que representan esas capas que se utilizan durante la fabricación del chip mediante procesos de litografía. Estas capas indican donde se debe de añadir el silicio, donde se debe formas las guías de onda o donde depositar el metal de los calentadores (HEATER, lo utilizaremos mas adelante). Estas capas son las siguientes: </a:t>
            </a:r>
          </a:p>
          <a:p>
            <a:pPr algn="just"/>
            <a:endParaRPr lang="es-ES" sz="1200" dirty="0">
              <a:latin typeface="Arial" panose="020B0604020202020204" pitchFamily="34" charset="0"/>
              <a:cs typeface="Arial" panose="020B0604020202020204" pitchFamily="34" charset="0"/>
            </a:endParaRPr>
          </a:p>
          <a:p>
            <a:pPr marL="171450" indent="-171450" algn="just">
              <a:buFontTx/>
              <a:buChar char="-"/>
            </a:pPr>
            <a:r>
              <a:rPr lang="es-ES" sz="1200" dirty="0">
                <a:latin typeface="Arial" panose="020B0604020202020204" pitchFamily="34" charset="0"/>
                <a:cs typeface="Arial" panose="020B0604020202020204" pitchFamily="34" charset="0"/>
              </a:rPr>
              <a:t>WG: Capa de la guía de onda. </a:t>
            </a:r>
          </a:p>
          <a:p>
            <a:pPr marL="171450" indent="-171450" algn="just">
              <a:buFontTx/>
              <a:buChar char="-"/>
            </a:pPr>
            <a:r>
              <a:rPr lang="es-ES" sz="1200" dirty="0">
                <a:latin typeface="Arial" panose="020B0604020202020204" pitchFamily="34" charset="0"/>
                <a:cs typeface="Arial" panose="020B0604020202020204" pitchFamily="34" charset="0"/>
              </a:rPr>
              <a:t>HEATER: Capa metálica que va justo encima de las guías ópticas. </a:t>
            </a:r>
          </a:p>
          <a:p>
            <a:pPr marL="171450" indent="-171450" algn="just">
              <a:buFontTx/>
              <a:buChar char="-"/>
            </a:pPr>
            <a:r>
              <a:rPr lang="es-ES" sz="1200" dirty="0">
                <a:latin typeface="Arial" panose="020B0604020202020204" pitchFamily="34" charset="0"/>
                <a:cs typeface="Arial" panose="020B0604020202020204" pitchFamily="34" charset="0"/>
              </a:rPr>
              <a:t>SLAB: Se utiliza para definir grabados parciales de silicio. </a:t>
            </a:r>
          </a:p>
          <a:p>
            <a:pPr marL="171450" indent="-171450" algn="just">
              <a:buFontTx/>
              <a:buChar char="-"/>
            </a:pPr>
            <a:r>
              <a:rPr lang="es-ES" sz="1200" dirty="0">
                <a:latin typeface="Arial" panose="020B0604020202020204" pitchFamily="34" charset="0"/>
                <a:cs typeface="Arial" panose="020B0604020202020204" pitchFamily="34" charset="0"/>
              </a:rPr>
              <a:t>PAD: Son los cuadrados de metal grandes y sirven como terminales donde se meterá corriente eléctrica desde fuera a dentro del chip. </a:t>
            </a:r>
          </a:p>
          <a:p>
            <a:pPr marL="171450" indent="-171450" algn="just">
              <a:buFontTx/>
              <a:buChar char="-"/>
            </a:pPr>
            <a:r>
              <a:rPr lang="es-ES" sz="1200" dirty="0">
                <a:latin typeface="Arial" panose="020B0604020202020204" pitchFamily="34" charset="0"/>
                <a:cs typeface="Arial" panose="020B0604020202020204" pitchFamily="34" charset="0"/>
              </a:rPr>
              <a:t>FLOORPLAN: Es una capa que sirve para definir el borde exterior del chip (área disponible de la oblea)</a:t>
            </a:r>
          </a:p>
          <a:p>
            <a:pPr marL="171450" indent="-171450" algn="just">
              <a:buFontTx/>
              <a:buChar char="-"/>
            </a:pPr>
            <a:r>
              <a:rPr lang="es-ES" sz="1200" dirty="0">
                <a:latin typeface="Arial" panose="020B0604020202020204" pitchFamily="34" charset="0"/>
                <a:cs typeface="Arial" panose="020B0604020202020204" pitchFamily="34" charset="0"/>
              </a:rPr>
              <a:t>LABEL_SETTINGS: Son capas de texto para poder introducir nombres, puertos, explicaciones, </a:t>
            </a:r>
            <a:r>
              <a:rPr lang="es-ES" sz="1200" dirty="0" err="1">
                <a:latin typeface="Arial" panose="020B0604020202020204" pitchFamily="34" charset="0"/>
                <a:cs typeface="Arial" panose="020B0604020202020204" pitchFamily="34" charset="0"/>
              </a:rPr>
              <a:t>etc</a:t>
            </a:r>
            <a:endParaRPr lang="es-E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7912179" y="4586267"/>
            <a:ext cx="3605982" cy="121575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BEC3D78-C227-4F8E-7F5D-F398FB043D20}"/>
              </a:ext>
            </a:extLst>
          </p:cNvPr>
          <p:cNvSpPr/>
          <p:nvPr/>
        </p:nvSpPr>
        <p:spPr>
          <a:xfrm>
            <a:off x="7531179" y="1202630"/>
            <a:ext cx="434181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5806D5A-9C65-5DDA-AF7C-30CC28E9C38F}"/>
              </a:ext>
            </a:extLst>
          </p:cNvPr>
          <p:cNvSpPr txBox="1"/>
          <p:nvPr/>
        </p:nvSpPr>
        <p:spPr>
          <a:xfrm>
            <a:off x="7989101" y="2278563"/>
            <a:ext cx="2435218" cy="369332"/>
          </a:xfrm>
          <a:prstGeom prst="rect">
            <a:avLst/>
          </a:prstGeom>
          <a:noFill/>
        </p:spPr>
        <p:txBody>
          <a:bodyPr wrap="none" rtlCol="0">
            <a:spAutoFit/>
          </a:bodyPr>
          <a:lstStyle/>
          <a:p>
            <a:pPr algn="ctr"/>
            <a:r>
              <a:rPr lang="es-ES" dirty="0"/>
              <a:t>Paste </a:t>
            </a:r>
            <a:r>
              <a:rPr lang="es-ES" dirty="0" err="1"/>
              <a:t>plot</a:t>
            </a:r>
            <a:r>
              <a:rPr lang="es-ES" dirty="0"/>
              <a:t> </a:t>
            </a:r>
            <a:r>
              <a:rPr lang="es-ES" dirty="0" err="1"/>
              <a:t>of</a:t>
            </a:r>
            <a:r>
              <a:rPr lang="es-ES" dirty="0"/>
              <a:t> </a:t>
            </a:r>
            <a:r>
              <a:rPr lang="es-ES" dirty="0" err="1"/>
              <a:t>layers</a:t>
            </a:r>
            <a:r>
              <a:rPr lang="es-ES" dirty="0"/>
              <a:t> </a:t>
            </a:r>
            <a:r>
              <a:rPr lang="es-ES" dirty="0" err="1"/>
              <a:t>here</a:t>
            </a:r>
            <a:endParaRPr lang="en-US" dirty="0"/>
          </a:p>
        </p:txBody>
      </p:sp>
      <p:pic>
        <p:nvPicPr>
          <p:cNvPr id="5" name="Imagen 4">
            <a:extLst>
              <a:ext uri="{FF2B5EF4-FFF2-40B4-BE49-F238E27FC236}">
                <a16:creationId xmlns:a16="http://schemas.microsoft.com/office/drawing/2014/main" id="{7EFC3D8E-FDFC-1177-77C3-DFA9E2338333}"/>
              </a:ext>
            </a:extLst>
          </p:cNvPr>
          <p:cNvPicPr>
            <a:picLocks noChangeAspect="1"/>
          </p:cNvPicPr>
          <p:nvPr/>
        </p:nvPicPr>
        <p:blipFill>
          <a:blip r:embed="rId4"/>
          <a:stretch>
            <a:fillRect/>
          </a:stretch>
        </p:blipFill>
        <p:spPr>
          <a:xfrm>
            <a:off x="7620000" y="1239094"/>
            <a:ext cx="4230689" cy="3188019"/>
          </a:xfrm>
          <a:prstGeom prst="rect">
            <a:avLst/>
          </a:prstGeom>
        </p:spPr>
      </p:pic>
      <p:pic>
        <p:nvPicPr>
          <p:cNvPr id="11" name="Imagen 10">
            <a:extLst>
              <a:ext uri="{FF2B5EF4-FFF2-40B4-BE49-F238E27FC236}">
                <a16:creationId xmlns:a16="http://schemas.microsoft.com/office/drawing/2014/main" id="{FF2DA183-F741-1C93-9F02-638651279E1F}"/>
              </a:ext>
            </a:extLst>
          </p:cNvPr>
          <p:cNvPicPr>
            <a:picLocks noChangeAspect="1"/>
          </p:cNvPicPr>
          <p:nvPr/>
        </p:nvPicPr>
        <p:blipFill>
          <a:blip r:embed="rId5"/>
          <a:stretch>
            <a:fillRect/>
          </a:stretch>
        </p:blipFill>
        <p:spPr>
          <a:xfrm>
            <a:off x="7976091" y="4642558"/>
            <a:ext cx="3436802" cy="1111036"/>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1BE4500-9BE4-025B-9167-E8AC6466B028}"/>
              </a:ext>
            </a:extLst>
          </p:cNvPr>
          <p:cNvSpPr txBox="1"/>
          <p:nvPr/>
        </p:nvSpPr>
        <p:spPr>
          <a:xfrm>
            <a:off x="401434" y="4363116"/>
            <a:ext cx="11708790" cy="1938992"/>
          </a:xfrm>
          <a:prstGeom prst="rect">
            <a:avLst/>
          </a:prstGeom>
          <a:solidFill>
            <a:schemeClr val="bg1">
              <a:lumMod val="95000"/>
            </a:schemeClr>
          </a:solidFill>
          <a:ln w="28575">
            <a:solidFill>
              <a:srgbClr val="E0700D"/>
            </a:solidFill>
          </a:ln>
        </p:spPr>
        <p:txBody>
          <a:bodyPr wrap="square" rtlCol="0">
            <a:spAutoFit/>
          </a:bodyPr>
          <a:lstStyle/>
          <a:p>
            <a:r>
              <a:rPr lang="es-ES" sz="1200" b="1" dirty="0">
                <a:latin typeface="Arial" panose="020B0604020202020204" pitchFamily="34" charset="0"/>
                <a:cs typeface="Arial" panose="020B0604020202020204" pitchFamily="34" charset="0"/>
              </a:rPr>
              <a:t>Descripción de la imagen: </a:t>
            </a:r>
            <a:r>
              <a:rPr lang="es-ES" sz="1200" dirty="0">
                <a:latin typeface="Arial" panose="020B0604020202020204" pitchFamily="34" charset="0"/>
                <a:cs typeface="Arial" panose="020B0604020202020204" pitchFamily="34" charset="0"/>
              </a:rPr>
              <a:t>Este es el acoplador direccional de guías de onda paralelas diseñado en el Lab 2 para la capa principal WG, un dispositivo de acoplamiento evanescente de 2x2 que funciona como divisor de potencia simétrico con una constante de acoplamiento objetivo K = 0.5 (3 dB), cuyas dimensiones físicas son una longitud de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 93.84 µm, un ancho de guía </a:t>
            </a:r>
            <a:r>
              <a:rPr lang="es-ES" sz="1200" dirty="0" err="1">
                <a:latin typeface="Arial" panose="020B0604020202020204" pitchFamily="34" charset="0"/>
                <a:cs typeface="Arial" panose="020B0604020202020204" pitchFamily="34" charset="0"/>
              </a:rPr>
              <a:t>width</a:t>
            </a:r>
            <a:r>
              <a:rPr lang="es-ES" sz="1200" dirty="0">
                <a:latin typeface="Arial" panose="020B0604020202020204" pitchFamily="34" charset="0"/>
                <a:cs typeface="Arial" panose="020B0604020202020204" pitchFamily="34" charset="0"/>
              </a:rPr>
              <a:t> = 0.5 µm y un gap = 0.5 µm, lo que sitúa los centros de ambos brazos en +/- </a:t>
            </a:r>
            <a:r>
              <a:rPr lang="es-ES" sz="1200" dirty="0" err="1">
                <a:latin typeface="Arial" panose="020B0604020202020204" pitchFamily="34" charset="0"/>
                <a:cs typeface="Arial" panose="020B0604020202020204" pitchFamily="34" charset="0"/>
              </a:rPr>
              <a:t>dY</a:t>
            </a:r>
            <a:r>
              <a:rPr lang="es-ES" sz="1200" dirty="0">
                <a:latin typeface="Arial" panose="020B0604020202020204" pitchFamily="34" charset="0"/>
                <a:cs typeface="Arial" panose="020B0604020202020204" pitchFamily="34" charset="0"/>
              </a:rPr>
              <a:t> = 0.5 µm respecto al eje central horizontal y tiene en sus codos en S un radio de curvatura seguro de </a:t>
            </a:r>
            <a:r>
              <a:rPr lang="es-ES" sz="1200" dirty="0" err="1">
                <a:latin typeface="Arial" panose="020B0604020202020204" pitchFamily="34" charset="0"/>
                <a:cs typeface="Arial" panose="020B0604020202020204" pitchFamily="34" charset="0"/>
              </a:rPr>
              <a:t>radius</a:t>
            </a:r>
            <a:r>
              <a:rPr lang="es-ES" sz="1200" dirty="0">
                <a:latin typeface="Arial" panose="020B0604020202020204" pitchFamily="34" charset="0"/>
                <a:cs typeface="Arial" panose="020B0604020202020204" pitchFamily="34" charset="0"/>
              </a:rPr>
              <a:t> = 35.0 (valor permitido por la librería para no tener pérdidas por radiación). </a:t>
            </a:r>
          </a:p>
          <a:p>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Breve </a:t>
            </a:r>
            <a:r>
              <a:rPr lang="en-US" sz="1200" b="1" dirty="0" err="1">
                <a:latin typeface="Arial" panose="020B0604020202020204" pitchFamily="34" charset="0"/>
                <a:cs typeface="Arial" panose="020B0604020202020204" pitchFamily="34" charset="0"/>
              </a:rPr>
              <a:t>explicación</a:t>
            </a:r>
            <a:r>
              <a:rPr lang="en-US" sz="1200" b="1" dirty="0">
                <a:latin typeface="Arial" panose="020B0604020202020204" pitchFamily="34" charset="0"/>
                <a:cs typeface="Arial" panose="020B0604020202020204" pitchFamily="34" charset="0"/>
              </a:rPr>
              <a:t> del </a:t>
            </a:r>
            <a:r>
              <a:rPr lang="en-US" sz="1200" b="1" dirty="0" err="1">
                <a:latin typeface="Arial" panose="020B0604020202020204" pitchFamily="34" charset="0"/>
                <a:cs typeface="Arial" panose="020B0604020202020204" pitchFamily="34" charset="0"/>
              </a:rPr>
              <a:t>código</a:t>
            </a:r>
            <a:r>
              <a:rPr lang="en-US" sz="1200" b="1"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En lugar de colocar las piezas mediante coordenadas fijas en el espacio, hemos definido un eje de simetría horizontal y se añaden dos guías de onda centrales (</a:t>
            </a:r>
            <a:r>
              <a:rPr lang="es-ES" sz="1200" dirty="0" err="1">
                <a:latin typeface="Arial" panose="020B0604020202020204" pitchFamily="34" charset="0"/>
                <a:cs typeface="Arial" panose="020B0604020202020204" pitchFamily="34" charset="0"/>
              </a:rPr>
              <a:t>straight</a:t>
            </a:r>
            <a:r>
              <a:rPr lang="es-ES" sz="1200" dirty="0">
                <a:latin typeface="Arial" panose="020B0604020202020204" pitchFamily="34" charset="0"/>
                <a:cs typeface="Arial" panose="020B0604020202020204" pitchFamily="34" charset="0"/>
              </a:rPr>
              <a:t>) desplazadas verticalmente una distancia de </a:t>
            </a:r>
            <a:r>
              <a:rPr lang="es-ES" sz="1200" i="1" dirty="0">
                <a:latin typeface="Arial" panose="020B0604020202020204" pitchFamily="34" charset="0"/>
                <a:cs typeface="Arial" panose="020B0604020202020204" pitchFamily="34" charset="0"/>
              </a:rPr>
              <a:t>+</a:t>
            </a:r>
            <a:r>
              <a:rPr lang="es-ES" sz="1200" i="1" dirty="0" err="1">
                <a:latin typeface="Arial" panose="020B0604020202020204" pitchFamily="34" charset="0"/>
                <a:cs typeface="Arial" panose="020B0604020202020204" pitchFamily="34" charset="0"/>
              </a:rPr>
              <a:t>distancia_centros</a:t>
            </a:r>
            <a:r>
              <a:rPr lang="es-ES" sz="1200" i="1" dirty="0">
                <a:latin typeface="Arial" panose="020B0604020202020204" pitchFamily="34" charset="0"/>
                <a:cs typeface="Arial" panose="020B0604020202020204" pitchFamily="34" charset="0"/>
              </a:rPr>
              <a:t>/2 y -</a:t>
            </a:r>
            <a:r>
              <a:rPr lang="es-ES" sz="1200" i="1" dirty="0" err="1">
                <a:latin typeface="Arial" panose="020B0604020202020204" pitchFamily="34" charset="0"/>
                <a:cs typeface="Arial" panose="020B0604020202020204" pitchFamily="34" charset="0"/>
              </a:rPr>
              <a:t>distancia_centros</a:t>
            </a:r>
            <a:r>
              <a:rPr lang="es-ES" sz="1200" i="1" dirty="0">
                <a:latin typeface="Arial" panose="020B0604020202020204" pitchFamily="34" charset="0"/>
                <a:cs typeface="Arial" panose="020B0604020202020204" pitchFamily="34" charset="0"/>
              </a:rPr>
              <a:t>/2 </a:t>
            </a:r>
            <a:r>
              <a:rPr lang="es-ES" sz="1200" dirty="0">
                <a:latin typeface="Arial" panose="020B0604020202020204" pitchFamily="34" charset="0"/>
                <a:cs typeface="Arial" panose="020B0604020202020204" pitchFamily="34" charset="0"/>
              </a:rPr>
              <a:t>mediante el método .</a:t>
            </a:r>
            <a:r>
              <a:rPr lang="es-ES" sz="1200" i="1" dirty="0" err="1">
                <a:latin typeface="Arial" panose="020B0604020202020204" pitchFamily="34" charset="0"/>
                <a:cs typeface="Arial" panose="020B0604020202020204" pitchFamily="34" charset="0"/>
              </a:rPr>
              <a:t>dmovey</a:t>
            </a:r>
            <a:r>
              <a:rPr lang="es-ES" sz="1200" i="1" dirty="0">
                <a:latin typeface="Arial" panose="020B0604020202020204" pitchFamily="34" charset="0"/>
                <a:cs typeface="Arial" panose="020B0604020202020204" pitchFamily="34" charset="0"/>
              </a:rPr>
              <a:t>(</a:t>
            </a:r>
            <a:r>
              <a:rPr lang="es-ES" sz="1200" dirty="0">
                <a:latin typeface="Arial" panose="020B0604020202020204" pitchFamily="34" charset="0"/>
                <a:cs typeface="Arial" panose="020B0604020202020204" pitchFamily="34" charset="0"/>
              </a:rPr>
              <a:t>), para que podamos utilizar el parámetro gap como coeficiente de acoplamiento. Las cuatro secciones curvadas de entrada y salida las hemos generado con bloques </a:t>
            </a:r>
            <a:r>
              <a:rPr lang="es-ES" sz="1200" i="1" dirty="0" err="1">
                <a:latin typeface="Arial" panose="020B0604020202020204" pitchFamily="34" charset="0"/>
                <a:cs typeface="Arial" panose="020B0604020202020204" pitchFamily="34" charset="0"/>
              </a:rPr>
              <a:t>bend_euler_s</a:t>
            </a:r>
            <a:r>
              <a:rPr lang="es-ES" sz="1200" i="1"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y montado de manera completamente automática utilizando el método .</a:t>
            </a:r>
            <a:r>
              <a:rPr lang="es-ES" sz="1200" i="1" dirty="0" err="1">
                <a:latin typeface="Arial" panose="020B0604020202020204" pitchFamily="34" charset="0"/>
                <a:cs typeface="Arial" panose="020B0604020202020204" pitchFamily="34" charset="0"/>
              </a:rPr>
              <a:t>connect</a:t>
            </a:r>
            <a:r>
              <a:rPr lang="es-ES" sz="1200" i="1"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el cual lee la posición y orientación de los puertos de las guías centrales para alinear y pegar los codos perfectamente sin dejar huecos en 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a:t>
            </a:r>
          </a:p>
        </p:txBody>
      </p:sp>
      <p:sp>
        <p:nvSpPr>
          <p:cNvPr id="6" name="Rectángulo 5">
            <a:extLst>
              <a:ext uri="{FF2B5EF4-FFF2-40B4-BE49-F238E27FC236}">
                <a16:creationId xmlns:a16="http://schemas.microsoft.com/office/drawing/2014/main" id="{FB364273-7E07-9E83-F4A6-1AFD1AEFE243}"/>
              </a:ext>
            </a:extLst>
          </p:cNvPr>
          <p:cNvSpPr/>
          <p:nvPr/>
        </p:nvSpPr>
        <p:spPr>
          <a:xfrm>
            <a:off x="914400" y="1184558"/>
            <a:ext cx="4829448" cy="3077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6224819-75AC-EB82-A160-7A3DE5BF0740}"/>
              </a:ext>
            </a:extLst>
          </p:cNvPr>
          <p:cNvSpPr txBox="1"/>
          <p:nvPr/>
        </p:nvSpPr>
        <p:spPr>
          <a:xfrm>
            <a:off x="2375901" y="2260491"/>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8C1E968B-0AE0-37CB-7468-A50896329E70}"/>
              </a:ext>
            </a:extLst>
          </p:cNvPr>
          <p:cNvSpPr/>
          <p:nvPr/>
        </p:nvSpPr>
        <p:spPr>
          <a:xfrm>
            <a:off x="7098380" y="1186591"/>
            <a:ext cx="4072251" cy="299642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9877566-4E2F-8CE5-3749-EB4B91552614}"/>
              </a:ext>
            </a:extLst>
          </p:cNvPr>
          <p:cNvSpPr txBox="1"/>
          <p:nvPr/>
        </p:nvSpPr>
        <p:spPr>
          <a:xfrm>
            <a:off x="7956912" y="2262524"/>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1CF0BCD1-65EC-7267-C1C6-7B9DCA2F3974}"/>
              </a:ext>
            </a:extLst>
          </p:cNvPr>
          <p:cNvPicPr>
            <a:picLocks noChangeAspect="1"/>
          </p:cNvPicPr>
          <p:nvPr/>
        </p:nvPicPr>
        <p:blipFill>
          <a:blip r:embed="rId4"/>
          <a:stretch>
            <a:fillRect/>
          </a:stretch>
        </p:blipFill>
        <p:spPr>
          <a:xfrm>
            <a:off x="7209833" y="1201285"/>
            <a:ext cx="3866586" cy="2948272"/>
          </a:xfrm>
          <a:prstGeom prst="rect">
            <a:avLst/>
          </a:prstGeom>
        </p:spPr>
      </p:pic>
      <p:pic>
        <p:nvPicPr>
          <p:cNvPr id="11" name="Imagen 10">
            <a:extLst>
              <a:ext uri="{FF2B5EF4-FFF2-40B4-BE49-F238E27FC236}">
                <a16:creationId xmlns:a16="http://schemas.microsoft.com/office/drawing/2014/main" id="{158EFED4-0675-00EB-3FE8-5552FD392E70}"/>
              </a:ext>
            </a:extLst>
          </p:cNvPr>
          <p:cNvPicPr>
            <a:picLocks noChangeAspect="1"/>
          </p:cNvPicPr>
          <p:nvPr/>
        </p:nvPicPr>
        <p:blipFill>
          <a:blip r:embed="rId5"/>
          <a:stretch>
            <a:fillRect/>
          </a:stretch>
        </p:blipFill>
        <p:spPr>
          <a:xfrm>
            <a:off x="1021369" y="1226276"/>
            <a:ext cx="4662862" cy="2956735"/>
          </a:xfrm>
          <a:prstGeom prst="rect">
            <a:avLst/>
          </a:prstGeom>
        </p:spPr>
      </p:pic>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C6BC7-5489-B136-F26C-A435E8B4AB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ADD1A96-7738-6C80-CAAC-7C91E137190B}"/>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MMIs”</a:t>
            </a:r>
            <a:endParaRPr sz="2500" b="0" i="1" dirty="0">
              <a:latin typeface="+mj-lt"/>
              <a:cs typeface="Lucida Sans"/>
            </a:endParaRPr>
          </a:p>
        </p:txBody>
      </p:sp>
      <p:pic>
        <p:nvPicPr>
          <p:cNvPr id="83" name="Gráfico 82">
            <a:extLst>
              <a:ext uri="{FF2B5EF4-FFF2-40B4-BE49-F238E27FC236}">
                <a16:creationId xmlns:a16="http://schemas.microsoft.com/office/drawing/2014/main" id="{246DFD2F-8662-BB50-2F5E-76AB87539A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AD60431-2B23-43B8-97B7-46E1A7844085}"/>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9DADA85C-2459-BDEF-5DC5-7FF4AB89C89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88BAA61-6B53-AEA3-846C-B5F7959D29DF}"/>
              </a:ext>
            </a:extLst>
          </p:cNvPr>
          <p:cNvSpPr txBox="1"/>
          <p:nvPr/>
        </p:nvSpPr>
        <p:spPr>
          <a:xfrm>
            <a:off x="401434" y="4363116"/>
            <a:ext cx="11708790" cy="1754326"/>
          </a:xfrm>
          <a:prstGeom prst="rect">
            <a:avLst/>
          </a:prstGeom>
          <a:solidFill>
            <a:schemeClr val="bg1">
              <a:lumMod val="95000"/>
            </a:schemeClr>
          </a:solidFill>
          <a:ln w="28575">
            <a:solidFill>
              <a:srgbClr val="E0700D"/>
            </a:solidFill>
          </a:ln>
        </p:spPr>
        <p:txBody>
          <a:bodyPr wrap="square" rtlCol="0">
            <a:spAutoFit/>
          </a:bodyPr>
          <a:lstStyle/>
          <a:p>
            <a:r>
              <a:rPr lang="es-ES" sz="1200" b="1" dirty="0">
                <a:latin typeface="Arial" panose="020B0604020202020204" pitchFamily="34" charset="0"/>
                <a:cs typeface="Arial" panose="020B0604020202020204" pitchFamily="34" charset="0"/>
              </a:rPr>
              <a:t>Descripción del componente: </a:t>
            </a:r>
            <a:r>
              <a:rPr lang="es-ES" sz="1200" dirty="0">
                <a:latin typeface="Arial" panose="020B0604020202020204" pitchFamily="34" charset="0"/>
                <a:cs typeface="Arial" panose="020B0604020202020204" pitchFamily="34" charset="0"/>
              </a:rPr>
              <a:t>Este es el acoplador MMI 2x2 diseñado en el Lab 2 para la capa principal WG, un dispositivo divisor y combinador de potencia con una constante de acoplamiento de K = 0.5 (3 dB), cuyas dimensiones del cuerpo multimodo central son una longitud </a:t>
            </a:r>
            <a:r>
              <a:rPr lang="es-ES" sz="1200" dirty="0" err="1">
                <a:latin typeface="Arial" panose="020B0604020202020204" pitchFamily="34" charset="0"/>
                <a:cs typeface="Arial" panose="020B0604020202020204" pitchFamily="34" charset="0"/>
              </a:rPr>
              <a:t>length_mmi</a:t>
            </a:r>
            <a:r>
              <a:rPr lang="es-ES" sz="1200" dirty="0">
                <a:latin typeface="Arial" panose="020B0604020202020204" pitchFamily="34" charset="0"/>
                <a:cs typeface="Arial" panose="020B0604020202020204" pitchFamily="34" charset="0"/>
              </a:rPr>
              <a:t> = 34.518 µm y un ancho </a:t>
            </a:r>
            <a:r>
              <a:rPr lang="es-ES" sz="1200" dirty="0" err="1">
                <a:latin typeface="Arial" panose="020B0604020202020204" pitchFamily="34" charset="0"/>
                <a:cs typeface="Arial" panose="020B0604020202020204" pitchFamily="34" charset="0"/>
              </a:rPr>
              <a:t>width_mmi</a:t>
            </a:r>
            <a:r>
              <a:rPr lang="es-ES" sz="1200" dirty="0">
                <a:latin typeface="Arial" panose="020B0604020202020204" pitchFamily="34" charset="0"/>
                <a:cs typeface="Arial" panose="020B0604020202020204" pitchFamily="34" charset="0"/>
              </a:rPr>
              <a:t> = 6.0 µm, situando los centros de sus dos guías de acceso de entrada (</a:t>
            </a:r>
            <a:r>
              <a:rPr lang="es-ES" sz="1200" dirty="0" err="1">
                <a:latin typeface="Arial" panose="020B0604020202020204" pitchFamily="34" charset="0"/>
                <a:cs typeface="Arial" panose="020B0604020202020204" pitchFamily="34" charset="0"/>
              </a:rPr>
              <a:t>straight_in</a:t>
            </a:r>
            <a:r>
              <a:rPr lang="es-ES" sz="1200" dirty="0">
                <a:latin typeface="Arial" panose="020B0604020202020204" pitchFamily="34" charset="0"/>
                <a:cs typeface="Arial" panose="020B0604020202020204" pitchFamily="34" charset="0"/>
              </a:rPr>
              <a:t>) y de salida (</a:t>
            </a:r>
            <a:r>
              <a:rPr lang="es-ES" sz="1200" dirty="0" err="1">
                <a:latin typeface="Arial" panose="020B0604020202020204" pitchFamily="34" charset="0"/>
                <a:cs typeface="Arial" panose="020B0604020202020204" pitchFamily="34" charset="0"/>
              </a:rPr>
              <a:t>straight_out</a:t>
            </a:r>
            <a:r>
              <a:rPr lang="es-ES" sz="1200" dirty="0">
                <a:latin typeface="Arial" panose="020B0604020202020204" pitchFamily="34" charset="0"/>
                <a:cs typeface="Arial" panose="020B0604020202020204" pitchFamily="34" charset="0"/>
              </a:rPr>
              <a:t>) en una posición desplazada simétricamente a +/- </a:t>
            </a:r>
            <a:r>
              <a:rPr lang="es-ES" sz="1200" dirty="0" err="1">
                <a:latin typeface="Arial" panose="020B0604020202020204" pitchFamily="34" charset="0"/>
                <a:cs typeface="Arial" panose="020B0604020202020204" pitchFamily="34" charset="0"/>
              </a:rPr>
              <a:t>dY</a:t>
            </a:r>
            <a:r>
              <a:rPr lang="es-ES" sz="1200" dirty="0">
                <a:latin typeface="Arial" panose="020B0604020202020204" pitchFamily="34" charset="0"/>
                <a:cs typeface="Arial" panose="020B0604020202020204" pitchFamily="34" charset="0"/>
              </a:rPr>
              <a:t> = 1.5 µm respecto al eje central horizontal (calculado como </a:t>
            </a:r>
            <a:r>
              <a:rPr lang="es-ES" sz="1200" dirty="0" err="1">
                <a:latin typeface="Arial" panose="020B0604020202020204" pitchFamily="34" charset="0"/>
                <a:cs typeface="Arial" panose="020B0604020202020204" pitchFamily="34" charset="0"/>
              </a:rPr>
              <a:t>width_mmi</a:t>
            </a:r>
            <a:r>
              <a:rPr lang="es-ES" sz="1200" dirty="0">
                <a:latin typeface="Arial" panose="020B0604020202020204" pitchFamily="34" charset="0"/>
                <a:cs typeface="Arial" panose="020B0604020202020204" pitchFamily="34" charset="0"/>
              </a:rPr>
              <a:t> / 4) con una anchura estándar de </a:t>
            </a:r>
            <a:r>
              <a:rPr lang="es-ES" sz="1200" dirty="0" err="1">
                <a:latin typeface="Arial" panose="020B0604020202020204" pitchFamily="34" charset="0"/>
                <a:cs typeface="Arial" panose="020B0604020202020204" pitchFamily="34" charset="0"/>
              </a:rPr>
              <a:t>width</a:t>
            </a:r>
            <a:r>
              <a:rPr lang="es-ES" sz="1200" dirty="0">
                <a:latin typeface="Arial" panose="020B0604020202020204" pitchFamily="34" charset="0"/>
                <a:cs typeface="Arial" panose="020B0604020202020204" pitchFamily="34" charset="0"/>
              </a:rPr>
              <a:t> = 0.5 µm y una longitud de cada una de las rectas de </a:t>
            </a:r>
            <a:r>
              <a:rPr lang="es-ES" sz="1200" dirty="0" err="1">
                <a:latin typeface="Arial" panose="020B0604020202020204" pitchFamily="34" charset="0"/>
                <a:cs typeface="Arial" panose="020B0604020202020204" pitchFamily="34" charset="0"/>
              </a:rPr>
              <a:t>length_dc</a:t>
            </a:r>
            <a:r>
              <a:rPr lang="es-ES" sz="1200" dirty="0">
                <a:latin typeface="Arial" panose="020B0604020202020204" pitchFamily="34" charset="0"/>
                <a:cs typeface="Arial" panose="020B0604020202020204" pitchFamily="34" charset="0"/>
              </a:rPr>
              <a:t> = 10.0 µm.</a:t>
            </a:r>
          </a:p>
          <a:p>
            <a:endParaRPr lang="es-ES" sz="1200" dirty="0">
              <a:latin typeface="Arial" panose="020B0604020202020204" pitchFamily="34" charset="0"/>
              <a:cs typeface="Arial" panose="020B0604020202020204" pitchFamily="34" charset="0"/>
            </a:endParaRPr>
          </a:p>
          <a:p>
            <a:r>
              <a:rPr lang="es-ES" sz="1200" b="1" dirty="0">
                <a:latin typeface="Arial" panose="020B0604020202020204" pitchFamily="34" charset="0"/>
                <a:cs typeface="Arial" panose="020B0604020202020204" pitchFamily="34" charset="0"/>
              </a:rPr>
              <a:t>Breve explicación del código: </a:t>
            </a:r>
            <a:r>
              <a:rPr lang="es-ES" sz="1200" dirty="0">
                <a:latin typeface="Arial" panose="020B0604020202020204" pitchFamily="34" charset="0"/>
                <a:cs typeface="Arial" panose="020B0604020202020204" pitchFamily="34" charset="0"/>
              </a:rPr>
              <a:t>En primer lugar, creamos el cuerpo multimodo central mediante un bloque </a:t>
            </a:r>
            <a:r>
              <a:rPr lang="es-ES" sz="1200" i="1" dirty="0" err="1">
                <a:latin typeface="Arial" panose="020B0604020202020204" pitchFamily="34" charset="0"/>
                <a:cs typeface="Arial" panose="020B0604020202020204" pitchFamily="34" charset="0"/>
              </a:rPr>
              <a:t>rectangle</a:t>
            </a:r>
            <a:r>
              <a:rPr lang="es-ES" sz="1200" dirty="0">
                <a:latin typeface="Arial" panose="020B0604020202020204" pitchFamily="34" charset="0"/>
                <a:cs typeface="Arial" panose="020B0604020202020204" pitchFamily="34" charset="0"/>
              </a:rPr>
              <a:t> y lo centramos exactamente en el origen desplazándolo la mitad de sus dimensiones en X e Y. Posteriormente, instanciamos las cuatro guías de acceso independientes (</a:t>
            </a:r>
            <a:r>
              <a:rPr lang="es-ES" sz="1200" dirty="0" err="1">
                <a:latin typeface="Arial" panose="020B0604020202020204" pitchFamily="34" charset="0"/>
                <a:cs typeface="Arial" panose="020B0604020202020204" pitchFamily="34" charset="0"/>
              </a:rPr>
              <a:t>straight</a:t>
            </a:r>
            <a:r>
              <a:rPr lang="es-ES" sz="1200" dirty="0">
                <a:latin typeface="Arial" panose="020B0604020202020204" pitchFamily="34" charset="0"/>
                <a:cs typeface="Arial" panose="020B0604020202020204" pitchFamily="34" charset="0"/>
              </a:rPr>
              <a:t>) y las posicionamos de forma manual calculando sus puntos de inicio en los bordes izquierdo y derecho del cuerpo (</a:t>
            </a:r>
            <a:r>
              <a:rPr lang="es-ES" sz="1200" dirty="0" err="1">
                <a:latin typeface="Arial" panose="020B0604020202020204" pitchFamily="34" charset="0"/>
                <a:cs typeface="Arial" panose="020B0604020202020204" pitchFamily="34" charset="0"/>
              </a:rPr>
              <a:t>x_entrada</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x_salida</a:t>
            </a:r>
            <a:r>
              <a:rPr lang="es-ES" sz="1200" dirty="0">
                <a:latin typeface="Arial" panose="020B0604020202020204" pitchFamily="34" charset="0"/>
                <a:cs typeface="Arial" panose="020B0604020202020204" pitchFamily="34" charset="0"/>
              </a:rPr>
              <a:t>), fijando sus alturas fijas a un cuarto del ancho del MMI para alinearlas de manera exacta con las posiciones donde se forman las imágenes de interferencia.</a:t>
            </a:r>
          </a:p>
        </p:txBody>
      </p:sp>
      <p:sp>
        <p:nvSpPr>
          <p:cNvPr id="6" name="Rectángulo 5">
            <a:extLst>
              <a:ext uri="{FF2B5EF4-FFF2-40B4-BE49-F238E27FC236}">
                <a16:creationId xmlns:a16="http://schemas.microsoft.com/office/drawing/2014/main" id="{ABA2F45F-4887-DE76-94E3-B2EF9D5C5FD7}"/>
              </a:ext>
            </a:extLst>
          </p:cNvPr>
          <p:cNvSpPr/>
          <p:nvPr/>
        </p:nvSpPr>
        <p:spPr>
          <a:xfrm>
            <a:off x="914400" y="1184558"/>
            <a:ext cx="5459050" cy="3077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AD657AF-D956-A928-C01D-C9B061BEF353}"/>
              </a:ext>
            </a:extLst>
          </p:cNvPr>
          <p:cNvSpPr txBox="1"/>
          <p:nvPr/>
        </p:nvSpPr>
        <p:spPr>
          <a:xfrm>
            <a:off x="2375901" y="2260491"/>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326E50FD-7337-9625-C805-542B81151EAC}"/>
              </a:ext>
            </a:extLst>
          </p:cNvPr>
          <p:cNvSpPr/>
          <p:nvPr/>
        </p:nvSpPr>
        <p:spPr>
          <a:xfrm>
            <a:off x="7098380" y="1186591"/>
            <a:ext cx="4072251" cy="299642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ACF90FE-E2EE-C329-73FC-4F2056BAF29E}"/>
              </a:ext>
            </a:extLst>
          </p:cNvPr>
          <p:cNvSpPr txBox="1"/>
          <p:nvPr/>
        </p:nvSpPr>
        <p:spPr>
          <a:xfrm>
            <a:off x="7956912" y="2262524"/>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0" name="Imagen 9">
            <a:extLst>
              <a:ext uri="{FF2B5EF4-FFF2-40B4-BE49-F238E27FC236}">
                <a16:creationId xmlns:a16="http://schemas.microsoft.com/office/drawing/2014/main" id="{FBA4E3F4-38D8-BF7D-C1A0-B2A3A814569C}"/>
              </a:ext>
            </a:extLst>
          </p:cNvPr>
          <p:cNvPicPr>
            <a:picLocks noChangeAspect="1"/>
          </p:cNvPicPr>
          <p:nvPr/>
        </p:nvPicPr>
        <p:blipFill>
          <a:blip r:embed="rId4"/>
          <a:stretch>
            <a:fillRect/>
          </a:stretch>
        </p:blipFill>
        <p:spPr>
          <a:xfrm>
            <a:off x="7239000" y="1226276"/>
            <a:ext cx="3815287" cy="2888524"/>
          </a:xfrm>
          <a:prstGeom prst="rect">
            <a:avLst/>
          </a:prstGeom>
        </p:spPr>
      </p:pic>
      <p:pic>
        <p:nvPicPr>
          <p:cNvPr id="13" name="Imagen 12">
            <a:extLst>
              <a:ext uri="{FF2B5EF4-FFF2-40B4-BE49-F238E27FC236}">
                <a16:creationId xmlns:a16="http://schemas.microsoft.com/office/drawing/2014/main" id="{3938DAD5-DD85-60EF-5124-06053FB5AD00}"/>
              </a:ext>
            </a:extLst>
          </p:cNvPr>
          <p:cNvPicPr>
            <a:picLocks noChangeAspect="1"/>
          </p:cNvPicPr>
          <p:nvPr/>
        </p:nvPicPr>
        <p:blipFill>
          <a:blip r:embed="rId5"/>
          <a:stretch>
            <a:fillRect/>
          </a:stretch>
        </p:blipFill>
        <p:spPr>
          <a:xfrm>
            <a:off x="1017652" y="1226276"/>
            <a:ext cx="5306948" cy="2959298"/>
          </a:xfrm>
          <a:prstGeom prst="rect">
            <a:avLst/>
          </a:prstGeom>
        </p:spPr>
      </p:pic>
    </p:spTree>
    <p:extLst>
      <p:ext uri="{BB962C8B-B14F-4D97-AF65-F5344CB8AC3E}">
        <p14:creationId xmlns:p14="http://schemas.microsoft.com/office/powerpoint/2010/main" val="562484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F81D7-EF2D-E4F6-4046-0B6150CA047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E5A3036-3A06-8F3C-FADB-CCE41E214142}"/>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MZIs”</a:t>
            </a:r>
            <a:endParaRPr sz="2500" b="0" i="1" dirty="0">
              <a:latin typeface="+mj-lt"/>
              <a:cs typeface="Lucida Sans"/>
            </a:endParaRPr>
          </a:p>
        </p:txBody>
      </p:sp>
      <p:pic>
        <p:nvPicPr>
          <p:cNvPr id="83" name="Gráfico 82">
            <a:extLst>
              <a:ext uri="{FF2B5EF4-FFF2-40B4-BE49-F238E27FC236}">
                <a16:creationId xmlns:a16="http://schemas.microsoft.com/office/drawing/2014/main" id="{54D3B5B6-9FFB-36CD-2F94-A4FC4D137A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7C01C2-A2AB-6A24-09F9-085029F95BEA}"/>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39153A52-7A3E-9A93-7FF4-CC456681088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953DA15-BC48-B7C3-73FD-3E9D958F230F}"/>
              </a:ext>
            </a:extLst>
          </p:cNvPr>
          <p:cNvSpPr txBox="1"/>
          <p:nvPr/>
        </p:nvSpPr>
        <p:spPr>
          <a:xfrm>
            <a:off x="7834899" y="1151775"/>
            <a:ext cx="3962400" cy="3046988"/>
          </a:xfrm>
          <a:prstGeom prst="rect">
            <a:avLst/>
          </a:prstGeom>
          <a:solidFill>
            <a:schemeClr val="bg1">
              <a:lumMod val="95000"/>
            </a:schemeClr>
          </a:solidFill>
          <a:ln w="28575">
            <a:solidFill>
              <a:srgbClr val="E0700D"/>
            </a:solidFill>
          </a:ln>
        </p:spPr>
        <p:txBody>
          <a:bodyPr wrap="square" rtlCol="0">
            <a:spAutoFit/>
          </a:bodyPr>
          <a:lstStyle/>
          <a:p>
            <a:pPr algn="just"/>
            <a:r>
              <a:rPr lang="es-ES" sz="1200" b="1" dirty="0">
                <a:latin typeface="Arial" panose="020B0604020202020204" pitchFamily="34" charset="0"/>
                <a:cs typeface="Arial" panose="020B0604020202020204" pitchFamily="34" charset="0"/>
              </a:rPr>
              <a:t>Descripción del componente: </a:t>
            </a:r>
            <a:r>
              <a:rPr lang="es-ES" sz="1200" dirty="0">
                <a:latin typeface="Arial" panose="020B0604020202020204" pitchFamily="34" charset="0"/>
                <a:cs typeface="Arial" panose="020B0604020202020204" pitchFamily="34" charset="0"/>
              </a:rPr>
              <a:t>Este es el Interferómetro Mach-Zehnder diseñado en el Lab 3 para la capa principal WG, un dispositivo </a:t>
            </a:r>
            <a:r>
              <a:rPr lang="es-ES" sz="1200" dirty="0" err="1">
                <a:latin typeface="Arial" panose="020B0604020202020204" pitchFamily="34" charset="0"/>
                <a:cs typeface="Arial" panose="020B0604020202020204" pitchFamily="34" charset="0"/>
              </a:rPr>
              <a:t>interferométrico</a:t>
            </a:r>
            <a:r>
              <a:rPr lang="es-ES" sz="1200" dirty="0">
                <a:latin typeface="Arial" panose="020B0604020202020204" pitchFamily="34" charset="0"/>
                <a:cs typeface="Arial" panose="020B0604020202020204" pitchFamily="34" charset="0"/>
              </a:rPr>
              <a:t> de 2x2 que actúa como filtro o modulador óptico con un acoplamiento en sus extremos, cuyas dimensiones de los brazos curvos incluyen un desfase </a:t>
            </a:r>
            <a:r>
              <a:rPr lang="es-ES" sz="1200" dirty="0" err="1">
                <a:latin typeface="Arial" panose="020B0604020202020204" pitchFamily="34" charset="0"/>
                <a:cs typeface="Arial" panose="020B0604020202020204" pitchFamily="34" charset="0"/>
              </a:rPr>
              <a:t>delta_length</a:t>
            </a:r>
            <a:r>
              <a:rPr lang="es-ES" sz="1200" dirty="0">
                <a:latin typeface="Arial" panose="020B0604020202020204" pitchFamily="34" charset="0"/>
                <a:cs typeface="Arial" panose="020B0604020202020204" pitchFamily="34" charset="0"/>
              </a:rPr>
              <a:t> = 20.0 µm y curvas con un radio de curvatura seguro de </a:t>
            </a:r>
            <a:r>
              <a:rPr lang="es-ES" sz="1200" dirty="0" err="1">
                <a:latin typeface="Arial" panose="020B0604020202020204" pitchFamily="34" charset="0"/>
                <a:cs typeface="Arial" panose="020B0604020202020204" pitchFamily="34" charset="0"/>
              </a:rPr>
              <a:t>radius</a:t>
            </a:r>
            <a:r>
              <a:rPr lang="es-ES" sz="1200" dirty="0">
                <a:latin typeface="Arial" panose="020B0604020202020204" pitchFamily="34" charset="0"/>
                <a:cs typeface="Arial" panose="020B0604020202020204" pitchFamily="34" charset="0"/>
              </a:rPr>
              <a:t> = 35.0 µm, integrando a sus lados izquierdo y derecho dos acopladores constituidos por guías rectas independientes de longitud </a:t>
            </a:r>
            <a:r>
              <a:rPr lang="es-ES" sz="1200" dirty="0" err="1">
                <a:latin typeface="Arial" panose="020B0604020202020204" pitchFamily="34" charset="0"/>
                <a:cs typeface="Arial" panose="020B0604020202020204" pitchFamily="34" charset="0"/>
              </a:rPr>
              <a:t>length_dc</a:t>
            </a:r>
            <a:r>
              <a:rPr lang="es-ES" sz="1200" dirty="0">
                <a:latin typeface="Arial" panose="020B0604020202020204" pitchFamily="34" charset="0"/>
                <a:cs typeface="Arial" panose="020B0604020202020204" pitchFamily="34" charset="0"/>
              </a:rPr>
              <a:t> = 12.25 µm con un ancho de guía </a:t>
            </a:r>
            <a:r>
              <a:rPr lang="es-ES" sz="1200" dirty="0" err="1">
                <a:latin typeface="Arial" panose="020B0604020202020204" pitchFamily="34" charset="0"/>
                <a:cs typeface="Arial" panose="020B0604020202020204" pitchFamily="34" charset="0"/>
              </a:rPr>
              <a:t>width</a:t>
            </a:r>
            <a:r>
              <a:rPr lang="es-ES" sz="1200" dirty="0">
                <a:latin typeface="Arial" panose="020B0604020202020204" pitchFamily="34" charset="0"/>
                <a:cs typeface="Arial" panose="020B0604020202020204" pitchFamily="34" charset="0"/>
              </a:rPr>
              <a:t> = 0.5 µm y un gap = 0.2 µm, las cuales se conectan a los puertos de los “anillos” mediante curvas en S (</a:t>
            </a:r>
            <a:r>
              <a:rPr lang="es-ES" sz="1200" dirty="0" err="1">
                <a:latin typeface="Arial" panose="020B0604020202020204" pitchFamily="34" charset="0"/>
                <a:cs typeface="Arial" panose="020B0604020202020204" pitchFamily="34" charset="0"/>
              </a:rPr>
              <a:t>bend_euler_s</a:t>
            </a:r>
            <a:r>
              <a:rPr lang="es-ES" sz="1200" dirty="0">
                <a:latin typeface="Arial" panose="020B0604020202020204" pitchFamily="34" charset="0"/>
                <a:cs typeface="Arial" panose="020B0604020202020204" pitchFamily="34" charset="0"/>
              </a:rPr>
              <a:t>) con un radio de 5.0 µm para guiar las entradas y salidas ópticas hacia los extremos del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a:t>
            </a:r>
          </a:p>
        </p:txBody>
      </p:sp>
      <p:sp>
        <p:nvSpPr>
          <p:cNvPr id="6" name="Rectángulo 5">
            <a:extLst>
              <a:ext uri="{FF2B5EF4-FFF2-40B4-BE49-F238E27FC236}">
                <a16:creationId xmlns:a16="http://schemas.microsoft.com/office/drawing/2014/main" id="{22F2733C-E25A-9E50-7ADA-84BD98B35E8F}"/>
              </a:ext>
            </a:extLst>
          </p:cNvPr>
          <p:cNvSpPr/>
          <p:nvPr/>
        </p:nvSpPr>
        <p:spPr>
          <a:xfrm>
            <a:off x="416793" y="1160397"/>
            <a:ext cx="3545607" cy="521754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BF13F9CF-3695-1242-2439-4563B684569B}"/>
              </a:ext>
            </a:extLst>
          </p:cNvPr>
          <p:cNvSpPr txBox="1"/>
          <p:nvPr/>
        </p:nvSpPr>
        <p:spPr>
          <a:xfrm>
            <a:off x="2375901" y="2260491"/>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A81E63DA-FDA7-65C1-0842-9AE0FABD9717}"/>
              </a:ext>
            </a:extLst>
          </p:cNvPr>
          <p:cNvSpPr/>
          <p:nvPr/>
        </p:nvSpPr>
        <p:spPr>
          <a:xfrm>
            <a:off x="4111081" y="1151774"/>
            <a:ext cx="3619799" cy="258202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Imagen 14">
            <a:extLst>
              <a:ext uri="{FF2B5EF4-FFF2-40B4-BE49-F238E27FC236}">
                <a16:creationId xmlns:a16="http://schemas.microsoft.com/office/drawing/2014/main" id="{67AD8FC4-6BFC-6A4F-7776-AC8FA284D59D}"/>
              </a:ext>
            </a:extLst>
          </p:cNvPr>
          <p:cNvPicPr>
            <a:picLocks noChangeAspect="1"/>
          </p:cNvPicPr>
          <p:nvPr/>
        </p:nvPicPr>
        <p:blipFill>
          <a:blip r:embed="rId4"/>
          <a:stretch>
            <a:fillRect/>
          </a:stretch>
        </p:blipFill>
        <p:spPr>
          <a:xfrm>
            <a:off x="565475" y="1214346"/>
            <a:ext cx="3292907" cy="5117550"/>
          </a:xfrm>
          <a:prstGeom prst="rect">
            <a:avLst/>
          </a:prstGeom>
        </p:spPr>
      </p:pic>
      <p:sp>
        <p:nvSpPr>
          <p:cNvPr id="18" name="CuadroTexto 17">
            <a:extLst>
              <a:ext uri="{FF2B5EF4-FFF2-40B4-BE49-F238E27FC236}">
                <a16:creationId xmlns:a16="http://schemas.microsoft.com/office/drawing/2014/main" id="{2E06431E-E5EC-B4E3-28C2-B65B04730D39}"/>
              </a:ext>
            </a:extLst>
          </p:cNvPr>
          <p:cNvSpPr txBox="1"/>
          <p:nvPr/>
        </p:nvSpPr>
        <p:spPr>
          <a:xfrm>
            <a:off x="4111081" y="4267111"/>
            <a:ext cx="7686218"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Breve </a:t>
            </a:r>
            <a:r>
              <a:rPr lang="en-US" sz="1200" b="1" dirty="0" err="1">
                <a:latin typeface="Arial" panose="020B0604020202020204" pitchFamily="34" charset="0"/>
                <a:cs typeface="Arial" panose="020B0604020202020204" pitchFamily="34" charset="0"/>
              </a:rPr>
              <a:t>explicación</a:t>
            </a:r>
            <a:r>
              <a:rPr lang="en-US" sz="1200" b="1" dirty="0">
                <a:latin typeface="Arial" panose="020B0604020202020204" pitchFamily="34" charset="0"/>
                <a:cs typeface="Arial" panose="020B0604020202020204" pitchFamily="34" charset="0"/>
              </a:rPr>
              <a:t> del </a:t>
            </a:r>
            <a:r>
              <a:rPr lang="en-US" sz="1200" b="1" dirty="0" err="1">
                <a:latin typeface="Arial" panose="020B0604020202020204" pitchFamily="34" charset="0"/>
                <a:cs typeface="Arial" panose="020B0604020202020204" pitchFamily="34" charset="0"/>
              </a:rPr>
              <a:t>código</a:t>
            </a:r>
            <a:r>
              <a:rPr lang="en-US" sz="1200" b="1"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A </a:t>
            </a:r>
            <a:r>
              <a:rPr lang="en-US" sz="1200" dirty="0" err="1">
                <a:latin typeface="Arial" panose="020B0604020202020204" pitchFamily="34" charset="0"/>
                <a:cs typeface="Arial" panose="020B0604020202020204" pitchFamily="34" charset="0"/>
              </a:rPr>
              <a:t>primera</a:t>
            </a:r>
            <a:r>
              <a:rPr lang="en-US" sz="1200" dirty="0">
                <a:latin typeface="Arial" panose="020B0604020202020204" pitchFamily="34" charset="0"/>
                <a:cs typeface="Arial" panose="020B0604020202020204" pitchFamily="34" charset="0"/>
              </a:rPr>
              <a:t> vista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código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tedioso</a:t>
            </a:r>
            <a:r>
              <a:rPr lang="en-US" sz="1200" dirty="0">
                <a:latin typeface="Arial" panose="020B0604020202020204" pitchFamily="34" charset="0"/>
                <a:cs typeface="Arial" panose="020B0604020202020204" pitchFamily="34" charset="0"/>
              </a:rPr>
              <a:t> y a </a:t>
            </a:r>
            <a:r>
              <a:rPr lang="en-US" sz="1200" dirty="0" err="1">
                <a:latin typeface="Arial" panose="020B0604020202020204" pitchFamily="34" charset="0"/>
                <a:cs typeface="Arial" panose="020B0604020202020204" pitchFamily="34" charset="0"/>
              </a:rPr>
              <a:t>costado</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suyo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diseñar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vamos</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intentar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explicarlo</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possible. </a:t>
            </a:r>
            <a:r>
              <a:rPr lang="en-US" sz="1200" dirty="0" err="1">
                <a:latin typeface="Arial" panose="020B0604020202020204" pitchFamily="34" charset="0"/>
                <a:cs typeface="Arial" panose="020B0604020202020204" pitchFamily="34" charset="0"/>
              </a:rPr>
              <a:t>Hemos</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estructurado el código en tres bloques lógicos sobre una sección de capa WG: primero, construimos el “anillo” inferior en el origen (0,0) como base para unir de forma consecutiva sus codos (b5 a b8) y sus rectas verticales (</a:t>
            </a:r>
            <a:r>
              <a:rPr lang="es-ES" sz="1200" dirty="0" err="1">
                <a:latin typeface="Arial" panose="020B0604020202020204" pitchFamily="34" charset="0"/>
                <a:cs typeface="Arial" panose="020B0604020202020204" pitchFamily="34" charset="0"/>
              </a:rPr>
              <a:t>v_straight</a:t>
            </a:r>
            <a:r>
              <a:rPr lang="es-ES" sz="1200" dirty="0">
                <a:latin typeface="Arial" panose="020B0604020202020204" pitchFamily="34" charset="0"/>
                <a:cs typeface="Arial" panose="020B0604020202020204" pitchFamily="34" charset="0"/>
              </a:rPr>
              <a:t>); segundo, definimos el “anillo” superior instanciando cuatro codos independientes (b1 a b4) donde el primero de ellos (b1) se rotó y se desplazó a una altura de 2*radius+20+gap para asegurar la separación central y compensar el tamaño de los codos inferiores, permitiendo que los tres codos restantes estuvieran en la posición adecuada con el método .</a:t>
            </a:r>
            <a:r>
              <a:rPr lang="es-ES" sz="1200" dirty="0" err="1">
                <a:latin typeface="Arial" panose="020B0604020202020204" pitchFamily="34" charset="0"/>
                <a:cs typeface="Arial" panose="020B0604020202020204" pitchFamily="34" charset="0"/>
              </a:rPr>
              <a:t>connect</a:t>
            </a:r>
            <a:r>
              <a:rPr lang="es-ES" sz="1200" dirty="0">
                <a:latin typeface="Arial" panose="020B0604020202020204" pitchFamily="34" charset="0"/>
                <a:cs typeface="Arial" panose="020B0604020202020204" pitchFamily="34" charset="0"/>
              </a:rPr>
              <a:t>(); y tercero, integramos los acopladores izquierdo y derecho compuestos por guías rectas y curvas en S (como hemos diseñado antes). Al enganchar estas piezas todo el circuito queda unido y se </a:t>
            </a:r>
            <a:r>
              <a:rPr lang="es-ES" sz="1200" dirty="0" err="1">
                <a:latin typeface="Arial" panose="020B0604020202020204" pitchFamily="34" charset="0"/>
                <a:cs typeface="Arial" panose="020B0604020202020204" pitchFamily="34" charset="0"/>
              </a:rPr>
              <a:t>auto-alinea</a:t>
            </a:r>
            <a:r>
              <a:rPr lang="es-ES" sz="1200" dirty="0">
                <a:latin typeface="Arial" panose="020B0604020202020204" pitchFamily="34" charset="0"/>
                <a:cs typeface="Arial" panose="020B0604020202020204" pitchFamily="34" charset="0"/>
              </a:rPr>
              <a:t> sin dejar huecos de aire. Las “” están porque es muestra manera de definir las partes de arriba y abajo del MZI. No llegan a ser unos anillos exactamente, pero por eso están las comillas dobles. </a:t>
            </a:r>
          </a:p>
        </p:txBody>
      </p:sp>
      <p:pic>
        <p:nvPicPr>
          <p:cNvPr id="20" name="Imagen 19">
            <a:extLst>
              <a:ext uri="{FF2B5EF4-FFF2-40B4-BE49-F238E27FC236}">
                <a16:creationId xmlns:a16="http://schemas.microsoft.com/office/drawing/2014/main" id="{571285F2-CC96-5C07-1D0E-411A05D5D14E}"/>
              </a:ext>
            </a:extLst>
          </p:cNvPr>
          <p:cNvPicPr>
            <a:picLocks noChangeAspect="1"/>
          </p:cNvPicPr>
          <p:nvPr/>
        </p:nvPicPr>
        <p:blipFill>
          <a:blip r:embed="rId5"/>
          <a:stretch>
            <a:fillRect/>
          </a:stretch>
        </p:blipFill>
        <p:spPr>
          <a:xfrm>
            <a:off x="4287014" y="1188524"/>
            <a:ext cx="3273703" cy="2478495"/>
          </a:xfrm>
          <a:prstGeom prst="rect">
            <a:avLst/>
          </a:prstGeom>
        </p:spPr>
      </p:pic>
    </p:spTree>
    <p:extLst>
      <p:ext uri="{BB962C8B-B14F-4D97-AF65-F5344CB8AC3E}">
        <p14:creationId xmlns:p14="http://schemas.microsoft.com/office/powerpoint/2010/main" val="1937262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95CB5-6688-9DCE-6D9A-BFDC52071D0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DF25A9E-7BC3-434F-23A6-7552F5A511DC}"/>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RINGs”</a:t>
            </a:r>
            <a:endParaRPr sz="2500" b="0" i="1" dirty="0">
              <a:latin typeface="+mj-lt"/>
              <a:cs typeface="Lucida Sans"/>
            </a:endParaRPr>
          </a:p>
        </p:txBody>
      </p:sp>
      <p:pic>
        <p:nvPicPr>
          <p:cNvPr id="83" name="Gráfico 82">
            <a:extLst>
              <a:ext uri="{FF2B5EF4-FFF2-40B4-BE49-F238E27FC236}">
                <a16:creationId xmlns:a16="http://schemas.microsoft.com/office/drawing/2014/main" id="{E64A0115-C795-7C54-48F9-9928759EF2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9FB6453-1B7D-2222-C531-808A8D9BBCAD}"/>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091185D1-6C5C-CE28-04CF-2498143331F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D5EE30A-450F-9682-89DF-2DAA39EC7C15}"/>
              </a:ext>
            </a:extLst>
          </p:cNvPr>
          <p:cNvSpPr txBox="1"/>
          <p:nvPr/>
        </p:nvSpPr>
        <p:spPr>
          <a:xfrm>
            <a:off x="401434" y="4363116"/>
            <a:ext cx="11708790"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b="1" dirty="0">
                <a:latin typeface="Arial" panose="020B0604020202020204" pitchFamily="34" charset="0"/>
                <a:cs typeface="Arial" panose="020B0604020202020204" pitchFamily="34" charset="0"/>
              </a:rPr>
              <a:t>Descripción del componente: </a:t>
            </a:r>
            <a:r>
              <a:rPr lang="es-ES" sz="1200" dirty="0">
                <a:latin typeface="Arial" panose="020B0604020202020204" pitchFamily="34" charset="0"/>
                <a:cs typeface="Arial" panose="020B0604020202020204" pitchFamily="34" charset="0"/>
              </a:rPr>
              <a:t>Este es el resonador de anillo en configuración </a:t>
            </a:r>
            <a:r>
              <a:rPr lang="es-ES" sz="1200" i="1" dirty="0" err="1">
                <a:latin typeface="Arial" panose="020B0604020202020204" pitchFamily="34" charset="0"/>
                <a:cs typeface="Arial" panose="020B0604020202020204" pitchFamily="34" charset="0"/>
              </a:rPr>
              <a:t>All</a:t>
            </a:r>
            <a:r>
              <a:rPr lang="es-ES" sz="1200" i="1" dirty="0">
                <a:latin typeface="Arial" panose="020B0604020202020204" pitchFamily="34" charset="0"/>
                <a:cs typeface="Arial" panose="020B0604020202020204" pitchFamily="34" charset="0"/>
              </a:rPr>
              <a:t>-Pass</a:t>
            </a:r>
            <a:r>
              <a:rPr lang="es-ES" sz="1200" dirty="0">
                <a:latin typeface="Arial" panose="020B0604020202020204" pitchFamily="34" charset="0"/>
                <a:cs typeface="Arial" panose="020B0604020202020204" pitchFamily="34" charset="0"/>
              </a:rPr>
              <a:t> diseñado en el Lab 3 para la capa principal WG, un dispositivo de filtrado y resonancia óptica compuesto por una cavidad cerrada en forma de bucle y una guía de acceso recta acoplada por proximidad con una constante de acoplamiento de K = 0.2, cuyas dimensiones físicas incluyen un radio de curvatura de </a:t>
            </a:r>
            <a:r>
              <a:rPr lang="es-ES" sz="1200" dirty="0" err="1">
                <a:latin typeface="Arial" panose="020B0604020202020204" pitchFamily="34" charset="0"/>
                <a:cs typeface="Arial" panose="020B0604020202020204" pitchFamily="34" charset="0"/>
              </a:rPr>
              <a:t>radius</a:t>
            </a:r>
            <a:r>
              <a:rPr lang="es-ES" sz="1200" dirty="0">
                <a:latin typeface="Arial" panose="020B0604020202020204" pitchFamily="34" charset="0"/>
                <a:cs typeface="Arial" panose="020B0604020202020204" pitchFamily="34" charset="0"/>
              </a:rPr>
              <a:t> = 15.915 µm y un espacio de acoplamiento estrecho gap = 0.2 µm, lo que permite que la guía recta se posicione en la base inferior del anillo a una altura exacta para asegurar la transferencia parcial de potencia en resonancia.</a:t>
            </a:r>
          </a:p>
          <a:p>
            <a:pPr algn="just"/>
            <a:endParaRPr lang="es-ES" sz="1200" dirty="0">
              <a:latin typeface="Arial" panose="020B0604020202020204" pitchFamily="34" charset="0"/>
              <a:cs typeface="Arial" panose="020B0604020202020204" pitchFamily="34" charset="0"/>
            </a:endParaRPr>
          </a:p>
          <a:p>
            <a:pPr algn="just"/>
            <a:r>
              <a:rPr lang="es-ES" sz="1200" b="1" dirty="0">
                <a:latin typeface="Arial" panose="020B0604020202020204" pitchFamily="34" charset="0"/>
                <a:cs typeface="Arial" panose="020B0604020202020204" pitchFamily="34" charset="0"/>
              </a:rPr>
              <a:t>Explicación del código: </a:t>
            </a:r>
            <a:r>
              <a:rPr lang="es-ES" sz="1200" dirty="0">
                <a:latin typeface="Arial" panose="020B0604020202020204" pitchFamily="34" charset="0"/>
                <a:cs typeface="Arial" panose="020B0604020202020204" pitchFamily="34" charset="0"/>
              </a:rPr>
              <a:t>En primer lugar, la cavidad cerrada del anillo la hemos generado instanciando cuatro codos de 90 grados (b1 a b4) basados en curvas (</a:t>
            </a:r>
            <a:r>
              <a:rPr lang="es-ES" sz="1200" dirty="0" err="1">
                <a:latin typeface="Arial" panose="020B0604020202020204" pitchFamily="34" charset="0"/>
                <a:cs typeface="Arial" panose="020B0604020202020204" pitchFamily="34" charset="0"/>
              </a:rPr>
              <a:t>bend_Euler</a:t>
            </a:r>
            <a:r>
              <a:rPr lang="es-ES" sz="1200" dirty="0">
                <a:latin typeface="Arial" panose="020B0604020202020204" pitchFamily="34" charset="0"/>
                <a:cs typeface="Arial" panose="020B0604020202020204" pitchFamily="34" charset="0"/>
              </a:rPr>
              <a:t>, como hemos hecho hasta ahora) y dos tramos rectos verticales (</a:t>
            </a:r>
            <a:r>
              <a:rPr lang="es-ES" sz="1200" dirty="0" err="1">
                <a:latin typeface="Arial" panose="020B0604020202020204" pitchFamily="34" charset="0"/>
                <a:cs typeface="Arial" panose="020B0604020202020204" pitchFamily="34" charset="0"/>
              </a:rPr>
              <a:t>v_straight_right</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v_straight_left</a:t>
            </a:r>
            <a:r>
              <a:rPr lang="es-ES" sz="1200" dirty="0">
                <a:latin typeface="Arial" panose="020B0604020202020204" pitchFamily="34" charset="0"/>
                <a:cs typeface="Arial" panose="020B0604020202020204" pitchFamily="34" charset="0"/>
              </a:rPr>
              <a:t>), uniéndose mediante el método .</a:t>
            </a:r>
            <a:r>
              <a:rPr lang="es-ES" sz="1200" dirty="0" err="1">
                <a:latin typeface="Arial" panose="020B0604020202020204" pitchFamily="34" charset="0"/>
                <a:cs typeface="Arial" panose="020B0604020202020204" pitchFamily="34" charset="0"/>
              </a:rPr>
              <a:t>connect</a:t>
            </a:r>
            <a:r>
              <a:rPr lang="es-ES" sz="1200" dirty="0">
                <a:latin typeface="Arial" panose="020B0604020202020204" pitchFamily="34" charset="0"/>
                <a:cs typeface="Arial" panose="020B0604020202020204" pitchFamily="34" charset="0"/>
              </a:rPr>
              <a:t>() para que se junten puerto a puerto hasta cerrar un círculo perfecto sin necesidad de calcular coordenadas manuales (con </a:t>
            </a:r>
            <a:r>
              <a:rPr lang="es-ES" sz="1200" dirty="0" err="1">
                <a:latin typeface="Arial" panose="020B0604020202020204" pitchFamily="34" charset="0"/>
                <a:cs typeface="Arial" panose="020B0604020202020204" pitchFamily="34" charset="0"/>
              </a:rPr>
              <a:t>dmovex</a:t>
            </a:r>
            <a:r>
              <a:rPr lang="es-ES" sz="1200" dirty="0">
                <a:latin typeface="Arial" panose="020B0604020202020204" pitchFamily="34" charset="0"/>
                <a:cs typeface="Arial" panose="020B0604020202020204" pitchFamily="34" charset="0"/>
              </a:rPr>
              <a:t>, con </a:t>
            </a:r>
            <a:r>
              <a:rPr lang="es-ES" sz="1200" dirty="0" err="1">
                <a:latin typeface="Arial" panose="020B0604020202020204" pitchFamily="34" charset="0"/>
                <a:cs typeface="Arial" panose="020B0604020202020204" pitchFamily="34" charset="0"/>
              </a:rPr>
              <a:t>dmovey</a:t>
            </a:r>
            <a:r>
              <a:rPr lang="es-ES" sz="1200" dirty="0">
                <a:latin typeface="Arial" panose="020B0604020202020204" pitchFamily="34" charset="0"/>
                <a:cs typeface="Arial" panose="020B0604020202020204" pitchFamily="34" charset="0"/>
              </a:rPr>
              <a:t>). En segundo lugar, para la guía recta (</a:t>
            </a:r>
            <a:r>
              <a:rPr lang="es-ES" sz="1200" dirty="0" err="1">
                <a:latin typeface="Arial" panose="020B0604020202020204" pitchFamily="34" charset="0"/>
                <a:cs typeface="Arial" panose="020B0604020202020204" pitchFamily="34" charset="0"/>
              </a:rPr>
              <a:t>v_straight</a:t>
            </a:r>
            <a:r>
              <a:rPr lang="es-ES" sz="1200" dirty="0">
                <a:latin typeface="Arial" panose="020B0604020202020204" pitchFamily="34" charset="0"/>
                <a:cs typeface="Arial" panose="020B0604020202020204" pitchFamily="34" charset="0"/>
              </a:rPr>
              <a:t>), en lugar de adivinar su posición, hemos calculado su longitud total (</a:t>
            </a:r>
            <a:r>
              <a:rPr lang="es-ES" sz="1200" dirty="0" err="1">
                <a:latin typeface="Arial" panose="020B0604020202020204" pitchFamily="34" charset="0"/>
                <a:cs typeface="Arial" panose="020B0604020202020204" pitchFamily="34" charset="0"/>
              </a:rPr>
              <a:t>bus_length</a:t>
            </a:r>
            <a:r>
              <a:rPr lang="es-ES" sz="1200" dirty="0">
                <a:latin typeface="Arial" panose="020B0604020202020204" pitchFamily="34" charset="0"/>
                <a:cs typeface="Arial" panose="020B0604020202020204" pitchFamily="34" charset="0"/>
              </a:rPr>
              <a:t> = 2 * </a:t>
            </a:r>
            <a:r>
              <a:rPr lang="es-ES" sz="1200" dirty="0" err="1">
                <a:latin typeface="Arial" panose="020B0604020202020204" pitchFamily="34" charset="0"/>
                <a:cs typeface="Arial" panose="020B0604020202020204" pitchFamily="34" charset="0"/>
              </a:rPr>
              <a:t>radius</a:t>
            </a:r>
            <a:r>
              <a:rPr lang="es-ES" sz="1200" dirty="0">
                <a:latin typeface="Arial" panose="020B0604020202020204" pitchFamily="34" charset="0"/>
                <a:cs typeface="Arial" panose="020B0604020202020204" pitchFamily="34" charset="0"/>
              </a:rPr>
              <a:t> +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y utilizado las coordenadas de los centros de los puertos ya creados en el anillo (b1 y b4) para aplicar un desplazamiento con .</a:t>
            </a:r>
            <a:r>
              <a:rPr lang="es-ES" sz="1200" dirty="0" err="1">
                <a:latin typeface="Arial" panose="020B0604020202020204" pitchFamily="34" charset="0"/>
                <a:cs typeface="Arial" panose="020B0604020202020204" pitchFamily="34" charset="0"/>
              </a:rPr>
              <a:t>dmovex</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dmovey</a:t>
            </a:r>
            <a:r>
              <a:rPr lang="es-ES" sz="1200" dirty="0">
                <a:latin typeface="Arial" panose="020B0604020202020204" pitchFamily="34" charset="0"/>
                <a:cs typeface="Arial" panose="020B0604020202020204" pitchFamily="34" charset="0"/>
              </a:rPr>
              <a:t>(), así la barra recta se desplaza hasta centrarse con el anillo. </a:t>
            </a:r>
          </a:p>
        </p:txBody>
      </p:sp>
      <p:sp>
        <p:nvSpPr>
          <p:cNvPr id="6" name="Rectángulo 5">
            <a:extLst>
              <a:ext uri="{FF2B5EF4-FFF2-40B4-BE49-F238E27FC236}">
                <a16:creationId xmlns:a16="http://schemas.microsoft.com/office/drawing/2014/main" id="{3D32B20D-3A24-CC7D-2B96-2A7061D5027C}"/>
              </a:ext>
            </a:extLst>
          </p:cNvPr>
          <p:cNvSpPr/>
          <p:nvPr/>
        </p:nvSpPr>
        <p:spPr>
          <a:xfrm>
            <a:off x="401434" y="1208640"/>
            <a:ext cx="7143236" cy="29702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D8CA6046-5123-F406-C479-3F6974B05A2B}"/>
              </a:ext>
            </a:extLst>
          </p:cNvPr>
          <p:cNvSpPr txBox="1"/>
          <p:nvPr/>
        </p:nvSpPr>
        <p:spPr>
          <a:xfrm>
            <a:off x="2915217" y="2284572"/>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3B230F37-B14A-EA96-ADEF-701DD339D9E6}"/>
              </a:ext>
            </a:extLst>
          </p:cNvPr>
          <p:cNvSpPr/>
          <p:nvPr/>
        </p:nvSpPr>
        <p:spPr>
          <a:xfrm>
            <a:off x="7637696" y="1210672"/>
            <a:ext cx="4072251" cy="299642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092AF44-FF99-714B-A097-6EC06C2ADBA9}"/>
              </a:ext>
            </a:extLst>
          </p:cNvPr>
          <p:cNvSpPr txBox="1"/>
          <p:nvPr/>
        </p:nvSpPr>
        <p:spPr>
          <a:xfrm>
            <a:off x="8496228" y="2286605"/>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0" name="Imagen 9">
            <a:extLst>
              <a:ext uri="{FF2B5EF4-FFF2-40B4-BE49-F238E27FC236}">
                <a16:creationId xmlns:a16="http://schemas.microsoft.com/office/drawing/2014/main" id="{31E7E5AB-87A4-8C32-92F4-21915C86E477}"/>
              </a:ext>
            </a:extLst>
          </p:cNvPr>
          <p:cNvPicPr>
            <a:picLocks noChangeAspect="1"/>
          </p:cNvPicPr>
          <p:nvPr/>
        </p:nvPicPr>
        <p:blipFill>
          <a:blip r:embed="rId4"/>
          <a:stretch>
            <a:fillRect/>
          </a:stretch>
        </p:blipFill>
        <p:spPr>
          <a:xfrm>
            <a:off x="7730721" y="1238376"/>
            <a:ext cx="3886200" cy="2940535"/>
          </a:xfrm>
          <a:prstGeom prst="rect">
            <a:avLst/>
          </a:prstGeom>
        </p:spPr>
      </p:pic>
      <p:pic>
        <p:nvPicPr>
          <p:cNvPr id="13" name="Imagen 12">
            <a:extLst>
              <a:ext uri="{FF2B5EF4-FFF2-40B4-BE49-F238E27FC236}">
                <a16:creationId xmlns:a16="http://schemas.microsoft.com/office/drawing/2014/main" id="{127C7B88-D7F2-D07E-8905-21ACAA5453D0}"/>
              </a:ext>
            </a:extLst>
          </p:cNvPr>
          <p:cNvPicPr>
            <a:picLocks noChangeAspect="1"/>
          </p:cNvPicPr>
          <p:nvPr/>
        </p:nvPicPr>
        <p:blipFill>
          <a:blip r:embed="rId5"/>
          <a:stretch>
            <a:fillRect/>
          </a:stretch>
        </p:blipFill>
        <p:spPr>
          <a:xfrm>
            <a:off x="482053" y="1257211"/>
            <a:ext cx="7007727" cy="2705189"/>
          </a:xfrm>
          <a:prstGeom prst="rect">
            <a:avLst/>
          </a:prstGeom>
        </p:spPr>
      </p:pic>
    </p:spTree>
    <p:extLst>
      <p:ext uri="{BB962C8B-B14F-4D97-AF65-F5344CB8AC3E}">
        <p14:creationId xmlns:p14="http://schemas.microsoft.com/office/powerpoint/2010/main" val="161403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261785"/>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281288"/>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a:xfrm>
            <a:off x="609600" y="6382288"/>
            <a:ext cx="2743200" cy="184666"/>
          </a:xfrm>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785565"/>
            <a:ext cx="11199971" cy="1200329"/>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Para diseñar este contorno de chip de forma jerárquica, lo primero que se hace es encapsular la función die bajo el @gf.cell para transformarla en una célula reutilizable que el programa memoriza en su caché, evitando duplicar datos en el archivo final de la oblea. El marco se construye mediante una operación booleana de resta (A-B) donde a un rectángulo exterior se le descuenta otro rectángulo más pequeño (</a:t>
            </a:r>
            <a:r>
              <a:rPr lang="es-ES" sz="1200" dirty="0" err="1">
                <a:latin typeface="Arial" panose="020B0604020202020204" pitchFamily="34" charset="0"/>
                <a:cs typeface="Arial" panose="020B0604020202020204" pitchFamily="34" charset="0"/>
              </a:rPr>
              <a:t>ibox</a:t>
            </a:r>
            <a:r>
              <a:rPr lang="es-ES" sz="1200" dirty="0">
                <a:latin typeface="Arial" panose="020B0604020202020204" pitchFamily="34" charset="0"/>
                <a:cs typeface="Arial" panose="020B0604020202020204" pitchFamily="34" charset="0"/>
              </a:rPr>
              <a:t>) desplazado hacia el interior según el ancho del </a:t>
            </a:r>
            <a:r>
              <a:rPr lang="es-ES" sz="1200" dirty="0" err="1">
                <a:latin typeface="Arial" panose="020B0604020202020204" pitchFamily="34" charset="0"/>
                <a:cs typeface="Arial" panose="020B0604020202020204" pitchFamily="34" charset="0"/>
              </a:rPr>
              <a:t>border</a:t>
            </a:r>
            <a:r>
              <a:rPr lang="es-ES" sz="1200" dirty="0">
                <a:latin typeface="Arial" panose="020B0604020202020204" pitchFamily="34" charset="0"/>
                <a:cs typeface="Arial" panose="020B0604020202020204" pitchFamily="34" charset="0"/>
              </a:rPr>
              <a:t>, dejando una ventana central vacía en la capa FLOORPLAN para poner futuros circuitos. Finalmente, en el bloque principal se crea un lienzo global llamado </a:t>
            </a:r>
            <a:r>
              <a:rPr lang="es-ES" sz="1200" dirty="0" err="1">
                <a:latin typeface="Arial" panose="020B0604020202020204" pitchFamily="34" charset="0"/>
                <a:cs typeface="Arial" panose="020B0604020202020204" pitchFamily="34" charset="0"/>
              </a:rPr>
              <a:t>wafer</a:t>
            </a:r>
            <a:r>
              <a:rPr lang="es-ES" sz="1200" dirty="0">
                <a:latin typeface="Arial" panose="020B0604020202020204" pitchFamily="34" charset="0"/>
                <a:cs typeface="Arial" panose="020B0604020202020204" pitchFamily="34" charset="0"/>
              </a:rPr>
              <a:t> donde se instancian tres referencias de este marco (c1, c2 y c3) que inicialmente aparecen apiladas en el origen (0,0), por lo que se ordenan de diferentes formas usando desplazamientos (.</a:t>
            </a:r>
            <a:r>
              <a:rPr lang="es-ES" sz="1200" dirty="0" err="1">
                <a:latin typeface="Arial" panose="020B0604020202020204" pitchFamily="34" charset="0"/>
                <a:cs typeface="Arial" panose="020B0604020202020204" pitchFamily="34" charset="0"/>
              </a:rPr>
              <a:t>dmovex</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dmovey</a:t>
            </a:r>
            <a:r>
              <a:rPr lang="es-ES" sz="1200" dirty="0">
                <a:latin typeface="Arial" panose="020B0604020202020204" pitchFamily="34" charset="0"/>
                <a:cs typeface="Arial" panose="020B0604020202020204" pitchFamily="34" charset="0"/>
              </a:rPr>
              <a:t>) para alinearlas y encajarlas a la perfección sobre la oblea.</a:t>
            </a:r>
          </a:p>
        </p:txBody>
      </p:sp>
      <p:sp>
        <p:nvSpPr>
          <p:cNvPr id="6" name="Rectángulo 5">
            <a:extLst>
              <a:ext uri="{FF2B5EF4-FFF2-40B4-BE49-F238E27FC236}">
                <a16:creationId xmlns:a16="http://schemas.microsoft.com/office/drawing/2014/main" id="{399364F4-A34A-5161-07CB-E12F9FFCB400}"/>
              </a:ext>
            </a:extLst>
          </p:cNvPr>
          <p:cNvSpPr/>
          <p:nvPr/>
        </p:nvSpPr>
        <p:spPr>
          <a:xfrm>
            <a:off x="609441" y="1343604"/>
            <a:ext cx="60961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2A2AA3F-CE55-C50B-CB18-2C8D2061FDB9}"/>
              </a:ext>
            </a:extLst>
          </p:cNvPr>
          <p:cNvSpPr txBox="1"/>
          <p:nvPr/>
        </p:nvSpPr>
        <p:spPr>
          <a:xfrm>
            <a:off x="1531412" y="2419537"/>
            <a:ext cx="3488647" cy="923330"/>
          </a:xfrm>
          <a:prstGeom prst="rect">
            <a:avLst/>
          </a:prstGeom>
          <a:noFill/>
        </p:spPr>
        <p:txBody>
          <a:bodyPr wrap="none" rtlCol="0">
            <a:spAutoFit/>
          </a:bodyPr>
          <a:lstStyle/>
          <a:p>
            <a:pPr algn="ctr"/>
            <a:r>
              <a:rPr lang="en-US" dirty="0"/>
              <a:t>Example code for</a:t>
            </a:r>
          </a:p>
          <a:p>
            <a:pPr algn="ctr"/>
            <a:r>
              <a:rPr lang="en-US" dirty="0"/>
              <a:t>“A die (chip) for a photonic layout”</a:t>
            </a:r>
          </a:p>
          <a:p>
            <a:pPr algn="ctr"/>
            <a:endParaRPr lang="en-US" dirty="0"/>
          </a:p>
        </p:txBody>
      </p:sp>
      <p:sp>
        <p:nvSpPr>
          <p:cNvPr id="8" name="Rectángulo 7">
            <a:extLst>
              <a:ext uri="{FF2B5EF4-FFF2-40B4-BE49-F238E27FC236}">
                <a16:creationId xmlns:a16="http://schemas.microsoft.com/office/drawing/2014/main" id="{4DFC788C-53E2-83E7-3D9E-EBD582171C71}"/>
              </a:ext>
            </a:extLst>
          </p:cNvPr>
          <p:cNvSpPr/>
          <p:nvPr/>
        </p:nvSpPr>
        <p:spPr>
          <a:xfrm>
            <a:off x="7467600" y="1345637"/>
            <a:ext cx="434181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C44A1ED-9D94-1354-DB46-756E574E2C7E}"/>
              </a:ext>
            </a:extLst>
          </p:cNvPr>
          <p:cNvSpPr txBox="1"/>
          <p:nvPr/>
        </p:nvSpPr>
        <p:spPr>
          <a:xfrm>
            <a:off x="8483018" y="2421570"/>
            <a:ext cx="1320234" cy="646331"/>
          </a:xfrm>
          <a:prstGeom prst="rect">
            <a:avLst/>
          </a:prstGeom>
          <a:noFill/>
        </p:spPr>
        <p:txBody>
          <a:bodyPr wrap="none" rtlCol="0">
            <a:spAutoFit/>
          </a:bodyPr>
          <a:lstStyle/>
          <a:p>
            <a:pPr algn="ctr"/>
            <a:r>
              <a:rPr lang="es-ES" dirty="0" err="1"/>
              <a:t>Example</a:t>
            </a:r>
            <a:r>
              <a:rPr lang="es-ES" dirty="0"/>
              <a:t> die</a:t>
            </a:r>
          </a:p>
          <a:p>
            <a:pPr algn="ct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12AE1021-3EB9-6519-3369-611E1746B04F}"/>
              </a:ext>
            </a:extLst>
          </p:cNvPr>
          <p:cNvPicPr>
            <a:picLocks noChangeAspect="1"/>
          </p:cNvPicPr>
          <p:nvPr/>
        </p:nvPicPr>
        <p:blipFill>
          <a:blip r:embed="rId4"/>
          <a:stretch>
            <a:fillRect/>
          </a:stretch>
        </p:blipFill>
        <p:spPr>
          <a:xfrm>
            <a:off x="7516196" y="1384368"/>
            <a:ext cx="4269055" cy="3224499"/>
          </a:xfrm>
          <a:prstGeom prst="rect">
            <a:avLst/>
          </a:prstGeom>
        </p:spPr>
      </p:pic>
      <p:pic>
        <p:nvPicPr>
          <p:cNvPr id="11" name="Imagen 10">
            <a:extLst>
              <a:ext uri="{FF2B5EF4-FFF2-40B4-BE49-F238E27FC236}">
                <a16:creationId xmlns:a16="http://schemas.microsoft.com/office/drawing/2014/main" id="{DE1AE36D-38B3-0634-C175-B08A9CF5A3B2}"/>
              </a:ext>
            </a:extLst>
          </p:cNvPr>
          <p:cNvPicPr>
            <a:picLocks noChangeAspect="1"/>
          </p:cNvPicPr>
          <p:nvPr/>
        </p:nvPicPr>
        <p:blipFill>
          <a:blip r:embed="rId5"/>
          <a:stretch>
            <a:fillRect/>
          </a:stretch>
        </p:blipFill>
        <p:spPr>
          <a:xfrm>
            <a:off x="685800" y="1421590"/>
            <a:ext cx="5943600" cy="3145637"/>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D8C2352E-973A-F389-F6A1-D644E07F2E7E}"/>
              </a:ext>
            </a:extLst>
          </p:cNvPr>
          <p:cNvSpPr/>
          <p:nvPr/>
        </p:nvSpPr>
        <p:spPr>
          <a:xfrm>
            <a:off x="762000" y="1418372"/>
            <a:ext cx="4724400" cy="493607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792D8CBF-451B-83CB-7D64-3CD9C64B8333}"/>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BAAAC818-8C43-CF5D-4DB7-21D1E6A0DEED}"/>
              </a:ext>
            </a:extLst>
          </p:cNvPr>
          <p:cNvSpPr/>
          <p:nvPr/>
        </p:nvSpPr>
        <p:spPr>
          <a:xfrm>
            <a:off x="6324599" y="1420406"/>
            <a:ext cx="5484813" cy="410724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E0254F2-3F36-2B82-F469-33464298D91B}"/>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Imagen 3">
            <a:extLst>
              <a:ext uri="{FF2B5EF4-FFF2-40B4-BE49-F238E27FC236}">
                <a16:creationId xmlns:a16="http://schemas.microsoft.com/office/drawing/2014/main" id="{9CA9C30B-B382-7005-020B-77A787D31650}"/>
              </a:ext>
            </a:extLst>
          </p:cNvPr>
          <p:cNvPicPr>
            <a:picLocks noChangeAspect="1"/>
          </p:cNvPicPr>
          <p:nvPr/>
        </p:nvPicPr>
        <p:blipFill>
          <a:blip r:embed="rId4"/>
          <a:stretch>
            <a:fillRect/>
          </a:stretch>
        </p:blipFill>
        <p:spPr>
          <a:xfrm>
            <a:off x="6421929" y="1459904"/>
            <a:ext cx="5363323" cy="4067743"/>
          </a:xfrm>
          <a:prstGeom prst="rect">
            <a:avLst/>
          </a:prstGeom>
        </p:spPr>
      </p:pic>
      <p:pic>
        <p:nvPicPr>
          <p:cNvPr id="10" name="Imagen 9">
            <a:extLst>
              <a:ext uri="{FF2B5EF4-FFF2-40B4-BE49-F238E27FC236}">
                <a16:creationId xmlns:a16="http://schemas.microsoft.com/office/drawing/2014/main" id="{BF3693E1-9CF7-9CEB-DFEF-51AE0005A17A}"/>
              </a:ext>
            </a:extLst>
          </p:cNvPr>
          <p:cNvPicPr>
            <a:picLocks noChangeAspect="1"/>
          </p:cNvPicPr>
          <p:nvPr/>
        </p:nvPicPr>
        <p:blipFill>
          <a:blip r:embed="rId5"/>
          <a:stretch>
            <a:fillRect/>
          </a:stretch>
        </p:blipFill>
        <p:spPr>
          <a:xfrm>
            <a:off x="883229" y="1459905"/>
            <a:ext cx="4488779" cy="4751794"/>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14A52-85AC-DBB6-F108-30BCC8C1D09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8B3151-1586-6781-111B-6B0C6093C5CF}"/>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MMIs”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E5165755-4BD1-8ADB-7637-F926B6F209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434CE27-1625-0637-CA36-FB654305B1D3}"/>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ADB9239B-7135-3402-2839-6E72F1873A3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073F6CBE-0F9A-233E-4956-BBD21D5A69BD}"/>
              </a:ext>
            </a:extLst>
          </p:cNvPr>
          <p:cNvSpPr/>
          <p:nvPr/>
        </p:nvSpPr>
        <p:spPr>
          <a:xfrm>
            <a:off x="762000" y="1418373"/>
            <a:ext cx="6705600" cy="43728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DBE9277E-61AF-C2F5-ACA3-9F79D7211EF3}"/>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DC370A2A-A323-B1B8-62E7-FFAC74713800}"/>
              </a:ext>
            </a:extLst>
          </p:cNvPr>
          <p:cNvSpPr/>
          <p:nvPr/>
        </p:nvSpPr>
        <p:spPr>
          <a:xfrm>
            <a:off x="7644330" y="1420406"/>
            <a:ext cx="4165082" cy="31515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3333697-4ACD-7D62-8BB9-26A90371592C}"/>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F8D97F47-3713-59C7-3FDD-B5DAC90D981B}"/>
              </a:ext>
            </a:extLst>
          </p:cNvPr>
          <p:cNvPicPr>
            <a:picLocks noChangeAspect="1"/>
          </p:cNvPicPr>
          <p:nvPr/>
        </p:nvPicPr>
        <p:blipFill>
          <a:blip r:embed="rId4"/>
          <a:stretch>
            <a:fillRect/>
          </a:stretch>
        </p:blipFill>
        <p:spPr>
          <a:xfrm>
            <a:off x="7687525" y="1459905"/>
            <a:ext cx="4103302" cy="3112096"/>
          </a:xfrm>
          <a:prstGeom prst="rect">
            <a:avLst/>
          </a:prstGeom>
        </p:spPr>
      </p:pic>
      <p:pic>
        <p:nvPicPr>
          <p:cNvPr id="12" name="Imagen 11">
            <a:extLst>
              <a:ext uri="{FF2B5EF4-FFF2-40B4-BE49-F238E27FC236}">
                <a16:creationId xmlns:a16="http://schemas.microsoft.com/office/drawing/2014/main" id="{CC977D43-DC30-22A4-FA74-1030944D9F1F}"/>
              </a:ext>
            </a:extLst>
          </p:cNvPr>
          <p:cNvPicPr>
            <a:picLocks noChangeAspect="1"/>
          </p:cNvPicPr>
          <p:nvPr/>
        </p:nvPicPr>
        <p:blipFill>
          <a:blip r:embed="rId5"/>
          <a:stretch>
            <a:fillRect/>
          </a:stretch>
        </p:blipFill>
        <p:spPr>
          <a:xfrm>
            <a:off x="838200" y="1471056"/>
            <a:ext cx="6553200" cy="4198015"/>
          </a:xfrm>
          <a:prstGeom prst="rect">
            <a:avLst/>
          </a:prstGeom>
        </p:spPr>
      </p:pic>
    </p:spTree>
    <p:extLst>
      <p:ext uri="{BB962C8B-B14F-4D97-AF65-F5344CB8AC3E}">
        <p14:creationId xmlns:p14="http://schemas.microsoft.com/office/powerpoint/2010/main" val="1704205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51FA4-9D3F-4381-25A5-9053D494B51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D168A1D-802A-D259-0293-598DE93CF70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MZIs”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A9677A95-8CA9-E76B-AC9B-BCD6FA8BEB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37B9D5C-7AB6-1223-C6D0-45EFE1B3D15D}"/>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7B26B8FF-52B1-741D-87B2-1A2C9E4973E5}"/>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76E55C77-DA6E-57CF-3576-52C5B7170530}"/>
              </a:ext>
            </a:extLst>
          </p:cNvPr>
          <p:cNvSpPr/>
          <p:nvPr/>
        </p:nvSpPr>
        <p:spPr>
          <a:xfrm>
            <a:off x="7848599" y="1192579"/>
            <a:ext cx="3827893" cy="493607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902964F-6E2D-5E60-6F32-91E0DE8355E6}"/>
              </a:ext>
            </a:extLst>
          </p:cNvPr>
          <p:cNvSpPr/>
          <p:nvPr/>
        </p:nvSpPr>
        <p:spPr>
          <a:xfrm>
            <a:off x="785891" y="1373634"/>
            <a:ext cx="5780362" cy="427222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A8E5060E-209B-6CE4-510B-ECBEF5298A11}"/>
              </a:ext>
            </a:extLst>
          </p:cNvPr>
          <p:cNvPicPr>
            <a:picLocks noChangeAspect="1"/>
          </p:cNvPicPr>
          <p:nvPr/>
        </p:nvPicPr>
        <p:blipFill>
          <a:blip r:embed="rId4"/>
          <a:stretch>
            <a:fillRect/>
          </a:stretch>
        </p:blipFill>
        <p:spPr>
          <a:xfrm>
            <a:off x="904121" y="1371600"/>
            <a:ext cx="5572879" cy="4206880"/>
          </a:xfrm>
          <a:prstGeom prst="rect">
            <a:avLst/>
          </a:prstGeom>
        </p:spPr>
      </p:pic>
      <p:pic>
        <p:nvPicPr>
          <p:cNvPr id="12" name="Imagen 11">
            <a:extLst>
              <a:ext uri="{FF2B5EF4-FFF2-40B4-BE49-F238E27FC236}">
                <a16:creationId xmlns:a16="http://schemas.microsoft.com/office/drawing/2014/main" id="{351D6BE2-8FD5-9EF9-A25B-EE928987BA84}"/>
              </a:ext>
            </a:extLst>
          </p:cNvPr>
          <p:cNvPicPr>
            <a:picLocks noChangeAspect="1"/>
          </p:cNvPicPr>
          <p:nvPr/>
        </p:nvPicPr>
        <p:blipFill>
          <a:blip r:embed="rId5"/>
          <a:stretch>
            <a:fillRect/>
          </a:stretch>
        </p:blipFill>
        <p:spPr>
          <a:xfrm>
            <a:off x="7940060" y="1224461"/>
            <a:ext cx="3694334" cy="4795339"/>
          </a:xfrm>
          <a:prstGeom prst="rect">
            <a:avLst/>
          </a:prstGeom>
        </p:spPr>
      </p:pic>
    </p:spTree>
    <p:extLst>
      <p:ext uri="{BB962C8B-B14F-4D97-AF65-F5344CB8AC3E}">
        <p14:creationId xmlns:p14="http://schemas.microsoft.com/office/powerpoint/2010/main" val="4230752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CA046-1ED7-2541-41A4-BBD7E496234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1147A57-D8DA-EAA4-0EAC-B9F9B28443DC}"/>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RINGs”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2ADC881A-712B-1BC9-733B-B904BB7406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EF646CF-028D-2893-7C73-34A47D0E102E}"/>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4262E2AD-3D7B-9461-6F4A-C39D2E92DCE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8AB27FC2-42CD-3DAB-E249-0217880E86B4}"/>
              </a:ext>
            </a:extLst>
          </p:cNvPr>
          <p:cNvSpPr/>
          <p:nvPr/>
        </p:nvSpPr>
        <p:spPr>
          <a:xfrm>
            <a:off x="761999" y="1418373"/>
            <a:ext cx="6810623" cy="43728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E248D604-819E-43C8-379B-C0F0EC4B6504}"/>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6F0766FE-4E1A-C833-D4F1-A2BE0F2B015F}"/>
              </a:ext>
            </a:extLst>
          </p:cNvPr>
          <p:cNvSpPr/>
          <p:nvPr/>
        </p:nvSpPr>
        <p:spPr>
          <a:xfrm>
            <a:off x="7644330" y="1420407"/>
            <a:ext cx="4165082" cy="30753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46ECB39C-F804-B645-8346-6ACC4AEAFE6E}"/>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98BCE6FB-7BF2-743C-A038-1D0DD0F90F55}"/>
              </a:ext>
            </a:extLst>
          </p:cNvPr>
          <p:cNvPicPr>
            <a:picLocks noChangeAspect="1"/>
          </p:cNvPicPr>
          <p:nvPr/>
        </p:nvPicPr>
        <p:blipFill>
          <a:blip r:embed="rId4"/>
          <a:stretch>
            <a:fillRect/>
          </a:stretch>
        </p:blipFill>
        <p:spPr>
          <a:xfrm>
            <a:off x="7716037" y="1440156"/>
            <a:ext cx="4021668" cy="3035895"/>
          </a:xfrm>
          <a:prstGeom prst="rect">
            <a:avLst/>
          </a:prstGeom>
        </p:spPr>
      </p:pic>
      <p:pic>
        <p:nvPicPr>
          <p:cNvPr id="12" name="Imagen 11">
            <a:extLst>
              <a:ext uri="{FF2B5EF4-FFF2-40B4-BE49-F238E27FC236}">
                <a16:creationId xmlns:a16="http://schemas.microsoft.com/office/drawing/2014/main" id="{FE7F82F8-825F-C9C9-5D60-9FEA9E40CE49}"/>
              </a:ext>
            </a:extLst>
          </p:cNvPr>
          <p:cNvPicPr>
            <a:picLocks noChangeAspect="1"/>
          </p:cNvPicPr>
          <p:nvPr/>
        </p:nvPicPr>
        <p:blipFill>
          <a:blip r:embed="rId5"/>
          <a:stretch>
            <a:fillRect/>
          </a:stretch>
        </p:blipFill>
        <p:spPr>
          <a:xfrm>
            <a:off x="879862" y="1497836"/>
            <a:ext cx="6587737" cy="4156968"/>
          </a:xfrm>
          <a:prstGeom prst="rect">
            <a:avLst/>
          </a:prstGeom>
        </p:spPr>
      </p:pic>
    </p:spTree>
    <p:extLst>
      <p:ext uri="{BB962C8B-B14F-4D97-AF65-F5344CB8AC3E}">
        <p14:creationId xmlns:p14="http://schemas.microsoft.com/office/powerpoint/2010/main" val="2771742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8187553-D412-F56C-DD26-11B2C97C2B31}"/>
              </a:ext>
            </a:extLst>
          </p:cNvPr>
          <p:cNvSpPr txBox="1"/>
          <p:nvPr/>
        </p:nvSpPr>
        <p:spPr>
          <a:xfrm>
            <a:off x="685800" y="4457700"/>
            <a:ext cx="10994410" cy="1181100"/>
          </a:xfrm>
          <a:prstGeom prst="rect">
            <a:avLst/>
          </a:prstGeom>
          <a:solidFill>
            <a:schemeClr val="bg1">
              <a:lumMod val="95000"/>
            </a:schemeClr>
          </a:solidFill>
          <a:ln w="28575">
            <a:solidFill>
              <a:srgbClr val="E0700D"/>
            </a:solidFill>
          </a:ln>
        </p:spPr>
        <p:txBody>
          <a:bodyPr wrap="square" rtlCol="0">
            <a:noAutofit/>
          </a:bodyPr>
          <a:lstStyle/>
          <a:p>
            <a:r>
              <a:rPr lang="es-ES" sz="1200" dirty="0">
                <a:latin typeface="Arial" panose="020B0604020202020204" pitchFamily="34" charset="0"/>
                <a:cs typeface="Arial" panose="020B0604020202020204" pitchFamily="34" charset="0"/>
              </a:rPr>
              <a:t>Este código lo que hace es meter un MMI 1x2 dentro del chip de 5000 micras y conectarlo todo de lado a lado. Primero, calcula el centro del chip usando como referencia la esquina interna (el puerto </a:t>
            </a:r>
            <a:r>
              <a:rPr lang="es-ES" sz="1200" dirty="0" err="1">
                <a:latin typeface="Arial" panose="020B0604020202020204" pitchFamily="34" charset="0"/>
                <a:cs typeface="Arial" panose="020B0604020202020204" pitchFamily="34" charset="0"/>
              </a:rPr>
              <a:t>block@org</a:t>
            </a:r>
            <a:r>
              <a:rPr lang="es-ES" sz="1200" dirty="0">
                <a:latin typeface="Arial" panose="020B0604020202020204" pitchFamily="34" charset="0"/>
                <a:cs typeface="Arial" panose="020B0604020202020204" pitchFamily="34" charset="0"/>
              </a:rPr>
              <a:t>) y planta ahí el MMI. Después, coloca tres guías completamente rectas de 500 micras justo en los bordes izquierdo y derecho del marco; esto se hace a propósito porque a la hora de fabricar y cortar el chip por los bordes, necesitas que el corte pille una sección recta para no romper o dañar el componente. Por último, en lugar de volverse loco calculando curvas a mano, el script usa la función </a:t>
            </a:r>
            <a:r>
              <a:rPr lang="es-ES" sz="1200" dirty="0" err="1">
                <a:latin typeface="Arial" panose="020B0604020202020204" pitchFamily="34" charset="0"/>
                <a:cs typeface="Arial" panose="020B0604020202020204" pitchFamily="34" charset="0"/>
              </a:rPr>
              <a:t>route_single_sbend</a:t>
            </a:r>
            <a:r>
              <a:rPr lang="es-ES" sz="1200" dirty="0">
                <a:latin typeface="Arial" panose="020B0604020202020204" pitchFamily="34" charset="0"/>
                <a:cs typeface="Arial" panose="020B0604020202020204" pitchFamily="34" charset="0"/>
              </a:rPr>
              <a:t> de </a:t>
            </a:r>
            <a:r>
              <a:rPr lang="es-ES" sz="1200" dirty="0" err="1">
                <a:latin typeface="Arial" panose="020B0604020202020204" pitchFamily="34" charset="0"/>
                <a:cs typeface="Arial" panose="020B0604020202020204" pitchFamily="34" charset="0"/>
              </a:rPr>
              <a:t>GDSfactory</a:t>
            </a:r>
            <a:r>
              <a:rPr lang="es-ES" sz="1200" dirty="0">
                <a:latin typeface="Arial" panose="020B0604020202020204" pitchFamily="34" charset="0"/>
                <a:cs typeface="Arial" panose="020B0604020202020204" pitchFamily="34" charset="0"/>
              </a:rPr>
              <a:t>, que funciona como un ruteador automático: lee dónde están los puertos del MMI y dónde están las guías rectas de los bordes, y dibuja ella sola las curvas en S necesarias para ajustar los desniveles verticales y dejar todo el circuito perfectamente conectado de extremo a extremo.</a:t>
            </a:r>
          </a:p>
        </p:txBody>
      </p:sp>
      <p:sp>
        <p:nvSpPr>
          <p:cNvPr id="8" name="Rectángulo 7">
            <a:extLst>
              <a:ext uri="{FF2B5EF4-FFF2-40B4-BE49-F238E27FC236}">
                <a16:creationId xmlns:a16="http://schemas.microsoft.com/office/drawing/2014/main" id="{F4B67F4D-126C-4796-4E73-E68F0F3CB6B3}"/>
              </a:ext>
            </a:extLst>
          </p:cNvPr>
          <p:cNvSpPr/>
          <p:nvPr/>
        </p:nvSpPr>
        <p:spPr>
          <a:xfrm>
            <a:off x="7467600" y="990285"/>
            <a:ext cx="4419599" cy="327691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4F5FE71-3005-DD28-5A06-1330678AD855}"/>
              </a:ext>
            </a:extLst>
          </p:cNvPr>
          <p:cNvSpPr txBox="1"/>
          <p:nvPr/>
        </p:nvSpPr>
        <p:spPr>
          <a:xfrm>
            <a:off x="766386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0FCF286E-BE55-F8F6-A411-2B14200E7876}"/>
              </a:ext>
            </a:extLst>
          </p:cNvPr>
          <p:cNvPicPr>
            <a:picLocks noChangeAspect="1"/>
          </p:cNvPicPr>
          <p:nvPr/>
        </p:nvPicPr>
        <p:blipFill>
          <a:blip r:embed="rId4"/>
          <a:stretch>
            <a:fillRect/>
          </a:stretch>
        </p:blipFill>
        <p:spPr>
          <a:xfrm>
            <a:off x="7543799" y="1001384"/>
            <a:ext cx="4274529" cy="3226776"/>
          </a:xfrm>
          <a:prstGeom prst="rect">
            <a:avLst/>
          </a:prstGeom>
        </p:spPr>
      </p:pic>
      <p:sp>
        <p:nvSpPr>
          <p:cNvPr id="7" name="Rectángulo 6">
            <a:extLst>
              <a:ext uri="{FF2B5EF4-FFF2-40B4-BE49-F238E27FC236}">
                <a16:creationId xmlns:a16="http://schemas.microsoft.com/office/drawing/2014/main" id="{04F311EF-0FC5-081F-8888-C31C5E2A3449}"/>
              </a:ext>
            </a:extLst>
          </p:cNvPr>
          <p:cNvSpPr/>
          <p:nvPr/>
        </p:nvSpPr>
        <p:spPr>
          <a:xfrm>
            <a:off x="685800" y="990285"/>
            <a:ext cx="6380419" cy="327691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uadroTexto 10">
            <a:extLst>
              <a:ext uri="{FF2B5EF4-FFF2-40B4-BE49-F238E27FC236}">
                <a16:creationId xmlns:a16="http://schemas.microsoft.com/office/drawing/2014/main" id="{CAD85AAE-F1B9-4671-45BC-C6E85C2975D3}"/>
              </a:ext>
            </a:extLst>
          </p:cNvPr>
          <p:cNvSpPr txBox="1"/>
          <p:nvPr/>
        </p:nvSpPr>
        <p:spPr>
          <a:xfrm>
            <a:off x="1634037"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pic>
        <p:nvPicPr>
          <p:cNvPr id="15" name="Imagen 14">
            <a:extLst>
              <a:ext uri="{FF2B5EF4-FFF2-40B4-BE49-F238E27FC236}">
                <a16:creationId xmlns:a16="http://schemas.microsoft.com/office/drawing/2014/main" id="{2B611AA5-882A-7E47-7CF6-3AB4234F4465}"/>
              </a:ext>
            </a:extLst>
          </p:cNvPr>
          <p:cNvPicPr>
            <a:picLocks noChangeAspect="1"/>
          </p:cNvPicPr>
          <p:nvPr/>
        </p:nvPicPr>
        <p:blipFill>
          <a:blip r:embed="rId5"/>
          <a:stretch>
            <a:fillRect/>
          </a:stretch>
        </p:blipFill>
        <p:spPr>
          <a:xfrm>
            <a:off x="816098" y="1047600"/>
            <a:ext cx="6194301" cy="3118277"/>
          </a:xfrm>
          <a:prstGeom prst="rect">
            <a:avLst/>
          </a:prstGeom>
        </p:spPr>
      </p:pic>
    </p:spTree>
    <p:extLst>
      <p:ext uri="{BB962C8B-B14F-4D97-AF65-F5344CB8AC3E}">
        <p14:creationId xmlns:p14="http://schemas.microsoft.com/office/powerpoint/2010/main" val="3190811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F103A-E335-5516-9088-861E7A40091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6CE9E2F-059D-875C-54EE-4B27960CA65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BD3BF740-C8AA-5ABD-064F-D71C9EA7B2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F80051-84A9-BB30-2B9A-3EB9121CF5C0}"/>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0E9B98B2-6BAF-3DB3-FD3D-F6CE546E6E35}"/>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A7B8DAC-B9B8-DAA5-F21B-67D1DFDC669A}"/>
              </a:ext>
            </a:extLst>
          </p:cNvPr>
          <p:cNvSpPr txBox="1"/>
          <p:nvPr/>
        </p:nvSpPr>
        <p:spPr>
          <a:xfrm>
            <a:off x="685800" y="4457700"/>
            <a:ext cx="10994410" cy="1181100"/>
          </a:xfrm>
          <a:prstGeom prst="rect">
            <a:avLst/>
          </a:prstGeom>
          <a:solidFill>
            <a:schemeClr val="bg1">
              <a:lumMod val="95000"/>
            </a:schemeClr>
          </a:solidFill>
          <a:ln w="28575">
            <a:solidFill>
              <a:srgbClr val="E0700D"/>
            </a:solidFill>
          </a:ln>
        </p:spPr>
        <p:txBody>
          <a:bodyPr wrap="square" rtlCol="0">
            <a:noAutofit/>
          </a:bodyPr>
          <a:lstStyle/>
          <a:p>
            <a:r>
              <a:rPr lang="es-ES" sz="1200" dirty="0">
                <a:latin typeface="Arial" panose="020B0604020202020204" pitchFamily="34" charset="0"/>
                <a:cs typeface="Arial" panose="020B0604020202020204" pitchFamily="34" charset="0"/>
              </a:rPr>
              <a:t>Aunque en 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no se ve correctamente, este código lo que hace es crear un divisor de potencia de 1 entrada a 4 salidas conectando tres MMI 1x2 en forma de árbol, y luego lo guarda como una célula reutilizable. Primero, el script mete tres copias del mismo MMI (mmi1, mmi2 y mmi3); deja el primero en el origen y desplaza los otros dos hacia adelante en el eje X (</a:t>
            </a:r>
            <a:r>
              <a:rPr lang="es-ES" sz="1200" dirty="0" err="1">
                <a:latin typeface="Arial" panose="020B0604020202020204" pitchFamily="34" charset="0"/>
                <a:cs typeface="Arial" panose="020B0604020202020204" pitchFamily="34" charset="0"/>
              </a:rPr>
              <a:t>pad_x</a:t>
            </a:r>
            <a:r>
              <a:rPr lang="es-ES" sz="1200" dirty="0">
                <a:latin typeface="Arial" panose="020B0604020202020204" pitchFamily="34" charset="0"/>
                <a:cs typeface="Arial" panose="020B0604020202020204" pitchFamily="34" charset="0"/>
              </a:rPr>
              <a:t>) y los separa en vertical (</a:t>
            </a:r>
            <a:r>
              <a:rPr lang="es-ES" sz="1200" dirty="0" err="1">
                <a:latin typeface="Arial" panose="020B0604020202020204" pitchFamily="34" charset="0"/>
                <a:cs typeface="Arial" panose="020B0604020202020204" pitchFamily="34" charset="0"/>
              </a:rPr>
              <a:t>pad_y</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pad_y</a:t>
            </a:r>
            <a:r>
              <a:rPr lang="es-ES" sz="1200" dirty="0">
                <a:latin typeface="Arial" panose="020B0604020202020204" pitchFamily="34" charset="0"/>
                <a:cs typeface="Arial" panose="020B0604020202020204" pitchFamily="34" charset="0"/>
              </a:rPr>
              <a:t>) para hacer espacio. Después, usa la función </a:t>
            </a:r>
            <a:r>
              <a:rPr lang="es-ES" sz="1200" dirty="0" err="1">
                <a:latin typeface="Arial" panose="020B0604020202020204" pitchFamily="34" charset="0"/>
                <a:cs typeface="Arial" panose="020B0604020202020204" pitchFamily="34" charset="0"/>
              </a:rPr>
              <a:t>route_single_sbend</a:t>
            </a:r>
            <a:r>
              <a:rPr lang="es-ES" sz="1200" dirty="0">
                <a:latin typeface="Arial" panose="020B0604020202020204" pitchFamily="34" charset="0"/>
                <a:cs typeface="Arial" panose="020B0604020202020204" pitchFamily="34" charset="0"/>
              </a:rPr>
              <a:t> para conectar las dos salidas del primer MMI a la entrada de los otros dos mediante curvas automáticas en S. Por último, el código redefine los puertos exteriores para que todo el bloque funcione como un único componente grande con una sola entrada a la izquierda (o1) y cuatro salidas a la derecha (o2 a o5), quedando listo para meterse en el diseño general con una sola línea de código (</a:t>
            </a:r>
            <a:r>
              <a:rPr lang="es-ES" sz="1200" dirty="0" err="1">
                <a:latin typeface="Arial" panose="020B0604020202020204" pitchFamily="34" charset="0"/>
                <a:cs typeface="Arial" panose="020B0604020202020204" pitchFamily="34" charset="0"/>
              </a:rPr>
              <a:t>add_ref</a:t>
            </a:r>
            <a:r>
              <a:rPr lang="es-ES" sz="1200" dirty="0">
                <a:latin typeface="Arial" panose="020B0604020202020204" pitchFamily="34" charset="0"/>
                <a:cs typeface="Arial" panose="020B0604020202020204" pitchFamily="34" charset="0"/>
              </a:rPr>
              <a:t>).</a:t>
            </a:r>
          </a:p>
        </p:txBody>
      </p:sp>
      <p:sp>
        <p:nvSpPr>
          <p:cNvPr id="8" name="Rectángulo 7">
            <a:extLst>
              <a:ext uri="{FF2B5EF4-FFF2-40B4-BE49-F238E27FC236}">
                <a16:creationId xmlns:a16="http://schemas.microsoft.com/office/drawing/2014/main" id="{940307B5-959A-4E25-7962-888553238F7B}"/>
              </a:ext>
            </a:extLst>
          </p:cNvPr>
          <p:cNvSpPr/>
          <p:nvPr/>
        </p:nvSpPr>
        <p:spPr>
          <a:xfrm>
            <a:off x="6912470" y="990285"/>
            <a:ext cx="4419599" cy="327691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AF49759-7C8A-AFBC-9541-6DB42118865A}"/>
              </a:ext>
            </a:extLst>
          </p:cNvPr>
          <p:cNvSpPr txBox="1"/>
          <p:nvPr/>
        </p:nvSpPr>
        <p:spPr>
          <a:xfrm>
            <a:off x="710873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sp>
        <p:nvSpPr>
          <p:cNvPr id="7" name="Rectángulo 6">
            <a:extLst>
              <a:ext uri="{FF2B5EF4-FFF2-40B4-BE49-F238E27FC236}">
                <a16:creationId xmlns:a16="http://schemas.microsoft.com/office/drawing/2014/main" id="{FE39D93D-24A8-D0E5-901A-D84104B597AE}"/>
              </a:ext>
            </a:extLst>
          </p:cNvPr>
          <p:cNvSpPr/>
          <p:nvPr/>
        </p:nvSpPr>
        <p:spPr>
          <a:xfrm>
            <a:off x="685801" y="990285"/>
            <a:ext cx="5257800" cy="327691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uadroTexto 10">
            <a:extLst>
              <a:ext uri="{FF2B5EF4-FFF2-40B4-BE49-F238E27FC236}">
                <a16:creationId xmlns:a16="http://schemas.microsoft.com/office/drawing/2014/main" id="{9D4B6F91-1A89-CE37-99C4-192972DCA333}"/>
              </a:ext>
            </a:extLst>
          </p:cNvPr>
          <p:cNvSpPr txBox="1"/>
          <p:nvPr/>
        </p:nvSpPr>
        <p:spPr>
          <a:xfrm>
            <a:off x="1634037"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pic>
        <p:nvPicPr>
          <p:cNvPr id="6" name="Imagen 5">
            <a:extLst>
              <a:ext uri="{FF2B5EF4-FFF2-40B4-BE49-F238E27FC236}">
                <a16:creationId xmlns:a16="http://schemas.microsoft.com/office/drawing/2014/main" id="{5FCD0D7A-618B-B0D9-2BC7-D91E6DFAF90D}"/>
              </a:ext>
            </a:extLst>
          </p:cNvPr>
          <p:cNvPicPr>
            <a:picLocks noChangeAspect="1"/>
          </p:cNvPicPr>
          <p:nvPr/>
        </p:nvPicPr>
        <p:blipFill>
          <a:blip r:embed="rId4"/>
          <a:stretch>
            <a:fillRect/>
          </a:stretch>
        </p:blipFill>
        <p:spPr>
          <a:xfrm>
            <a:off x="7010400" y="1040166"/>
            <a:ext cx="4245470" cy="3222008"/>
          </a:xfrm>
          <a:prstGeom prst="rect">
            <a:avLst/>
          </a:prstGeom>
        </p:spPr>
      </p:pic>
      <p:pic>
        <p:nvPicPr>
          <p:cNvPr id="12" name="Imagen 11">
            <a:extLst>
              <a:ext uri="{FF2B5EF4-FFF2-40B4-BE49-F238E27FC236}">
                <a16:creationId xmlns:a16="http://schemas.microsoft.com/office/drawing/2014/main" id="{B9709A7E-15F4-9BCB-C8AB-7378250F982C}"/>
              </a:ext>
            </a:extLst>
          </p:cNvPr>
          <p:cNvPicPr>
            <a:picLocks noChangeAspect="1"/>
          </p:cNvPicPr>
          <p:nvPr/>
        </p:nvPicPr>
        <p:blipFill>
          <a:blip r:embed="rId5"/>
          <a:stretch>
            <a:fillRect/>
          </a:stretch>
        </p:blipFill>
        <p:spPr>
          <a:xfrm>
            <a:off x="789809" y="1040166"/>
            <a:ext cx="5077592" cy="3172403"/>
          </a:xfrm>
          <a:prstGeom prst="rect">
            <a:avLst/>
          </a:prstGeom>
        </p:spPr>
      </p:pic>
    </p:spTree>
    <p:extLst>
      <p:ext uri="{BB962C8B-B14F-4D97-AF65-F5344CB8AC3E}">
        <p14:creationId xmlns:p14="http://schemas.microsoft.com/office/powerpoint/2010/main" val="1166078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2644-DCA7-54AC-40F6-947E3D0963D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1A463FE-B54A-4E25-857A-4188BCD93932}"/>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9E19F3BF-2718-34AE-3566-DF4D6BD63E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9EB91DC-39B4-3E5B-DE08-5144F809FA0C}"/>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88F6826E-D06A-D22E-74AA-776BCE59728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CA1A18C1-67C3-43B8-CBD7-63DAF264069B}"/>
              </a:ext>
            </a:extLst>
          </p:cNvPr>
          <p:cNvSpPr txBox="1"/>
          <p:nvPr/>
        </p:nvSpPr>
        <p:spPr>
          <a:xfrm>
            <a:off x="648629" y="4614864"/>
            <a:ext cx="10994410" cy="1404936"/>
          </a:xfrm>
          <a:prstGeom prst="rect">
            <a:avLst/>
          </a:prstGeom>
          <a:solidFill>
            <a:schemeClr val="bg1">
              <a:lumMod val="95000"/>
            </a:schemeClr>
          </a:solidFill>
          <a:ln w="28575">
            <a:solidFill>
              <a:srgbClr val="E0700D"/>
            </a:solidFill>
          </a:ln>
        </p:spPr>
        <p:txBody>
          <a:bodyPr wrap="square" rtlCol="0">
            <a:noAutofit/>
          </a:bodyPr>
          <a:lstStyle/>
          <a:p>
            <a:r>
              <a:rPr lang="es-ES" sz="1200" dirty="0">
                <a:latin typeface="Arial" panose="020B0604020202020204" pitchFamily="34" charset="0"/>
                <a:cs typeface="Arial" panose="020B0604020202020204" pitchFamily="34" charset="0"/>
              </a:rPr>
              <a:t>Este código lo que hace es conectar el árbol de MMI 1x4 que se creó antes a unas matrices de guías de onda de entrada y salida colocadas en los bordes del chip. Primero, el script usa </a:t>
            </a:r>
            <a:r>
              <a:rPr lang="es-ES" sz="1200" dirty="0" err="1">
                <a:latin typeface="Arial" panose="020B0604020202020204" pitchFamily="34" charset="0"/>
                <a:cs typeface="Arial" panose="020B0604020202020204" pitchFamily="34" charset="0"/>
              </a:rPr>
              <a:t>straight_array</a:t>
            </a:r>
            <a:r>
              <a:rPr lang="es-ES" sz="1200" dirty="0">
                <a:latin typeface="Arial" panose="020B0604020202020204" pitchFamily="34" charset="0"/>
                <a:cs typeface="Arial" panose="020B0604020202020204" pitchFamily="34" charset="0"/>
              </a:rPr>
              <a:t> para meter dos bloques de 4 guías rectas paralelas: uno a la izquierda (</a:t>
            </a:r>
            <a:r>
              <a:rPr lang="es-ES" sz="1200" dirty="0" err="1">
                <a:latin typeface="Arial" panose="020B0604020202020204" pitchFamily="34" charset="0"/>
                <a:cs typeface="Arial" panose="020B0604020202020204" pitchFamily="34" charset="0"/>
              </a:rPr>
              <a:t>in_arr</a:t>
            </a:r>
            <a:r>
              <a:rPr lang="es-ES" sz="1200" dirty="0">
                <a:latin typeface="Arial" panose="020B0604020202020204" pitchFamily="34" charset="0"/>
                <a:cs typeface="Arial" panose="020B0604020202020204" pitchFamily="34" charset="0"/>
              </a:rPr>
              <a:t>) y otro a la derecha (</a:t>
            </a:r>
            <a:r>
              <a:rPr lang="es-ES" sz="1200" dirty="0" err="1">
                <a:latin typeface="Arial" panose="020B0604020202020204" pitchFamily="34" charset="0"/>
                <a:cs typeface="Arial" panose="020B0604020202020204" pitchFamily="34" charset="0"/>
              </a:rPr>
              <a:t>out_arr</a:t>
            </a:r>
            <a:r>
              <a:rPr lang="es-ES" sz="1200" dirty="0">
                <a:latin typeface="Arial" panose="020B0604020202020204" pitchFamily="34" charset="0"/>
                <a:cs typeface="Arial" panose="020B0604020202020204" pitchFamily="34" charset="0"/>
              </a:rPr>
              <a:t>), situándolos justo en las zonas de corte del chip (los bordes) para que sirvan como puertos de entrada y salida generales. Después, mueve el árbol MMI (cell_1x4) para centrarlo horizontalmente en el chip y alinearlo verticalmente con una de las guías de entrada. Por último, usa la función </a:t>
            </a:r>
            <a:r>
              <a:rPr lang="es-ES" sz="1200" dirty="0" err="1">
                <a:latin typeface="Arial" panose="020B0604020202020204" pitchFamily="34" charset="0"/>
                <a:cs typeface="Arial" panose="020B0604020202020204" pitchFamily="34" charset="0"/>
              </a:rPr>
              <a:t>route_single_sbend</a:t>
            </a:r>
            <a:r>
              <a:rPr lang="es-ES" sz="1200" dirty="0">
                <a:latin typeface="Arial" panose="020B0604020202020204" pitchFamily="34" charset="0"/>
                <a:cs typeface="Arial" panose="020B0604020202020204" pitchFamily="34" charset="0"/>
              </a:rPr>
              <a:t> para interconectar todo de golpe: engancha una de las guías del bloque izquierdo a la entrada única del árbol MMI (o1), y luego conecta de forma automática las 4 salidas del árbol (o2 a o5) a las 4 guías del bloque derecho, generando curvas en S automáticas que salvan los desniveles verticales y dejan el divisor 1x4 completamente ruteado de borde a borde del chip.</a:t>
            </a:r>
          </a:p>
          <a:p>
            <a:endParaRPr lang="es-E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719EF8A4-50DD-4E34-8082-6CD3DD8A8365}"/>
              </a:ext>
            </a:extLst>
          </p:cNvPr>
          <p:cNvSpPr/>
          <p:nvPr/>
        </p:nvSpPr>
        <p:spPr>
          <a:xfrm>
            <a:off x="6705602" y="982092"/>
            <a:ext cx="4419599" cy="327691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B8C1641-DFEC-0898-E469-F0AAA3E60A4F}"/>
              </a:ext>
            </a:extLst>
          </p:cNvPr>
          <p:cNvSpPr txBox="1"/>
          <p:nvPr/>
        </p:nvSpPr>
        <p:spPr>
          <a:xfrm>
            <a:off x="6901862" y="3097641"/>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sp>
        <p:nvSpPr>
          <p:cNvPr id="7" name="Rectángulo 6">
            <a:extLst>
              <a:ext uri="{FF2B5EF4-FFF2-40B4-BE49-F238E27FC236}">
                <a16:creationId xmlns:a16="http://schemas.microsoft.com/office/drawing/2014/main" id="{C13B378D-277C-CEFA-9DA7-02BD9DFBD82D}"/>
              </a:ext>
            </a:extLst>
          </p:cNvPr>
          <p:cNvSpPr/>
          <p:nvPr/>
        </p:nvSpPr>
        <p:spPr>
          <a:xfrm>
            <a:off x="1248937" y="982404"/>
            <a:ext cx="4694663" cy="335311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B0460DFF-DD0E-CBF2-182E-6AA2FADD87DD}"/>
              </a:ext>
            </a:extLst>
          </p:cNvPr>
          <p:cNvPicPr>
            <a:picLocks noChangeAspect="1"/>
          </p:cNvPicPr>
          <p:nvPr/>
        </p:nvPicPr>
        <p:blipFill>
          <a:blip r:embed="rId4"/>
          <a:stretch>
            <a:fillRect/>
          </a:stretch>
        </p:blipFill>
        <p:spPr>
          <a:xfrm>
            <a:off x="6781802" y="1000893"/>
            <a:ext cx="4337100" cy="3266307"/>
          </a:xfrm>
          <a:prstGeom prst="rect">
            <a:avLst/>
          </a:prstGeom>
        </p:spPr>
      </p:pic>
      <p:pic>
        <p:nvPicPr>
          <p:cNvPr id="12" name="Imagen 11">
            <a:extLst>
              <a:ext uri="{FF2B5EF4-FFF2-40B4-BE49-F238E27FC236}">
                <a16:creationId xmlns:a16="http://schemas.microsoft.com/office/drawing/2014/main" id="{0EFC4645-F9E8-E522-4E8A-E02ADBE94BAB}"/>
              </a:ext>
            </a:extLst>
          </p:cNvPr>
          <p:cNvPicPr>
            <a:picLocks noChangeAspect="1"/>
          </p:cNvPicPr>
          <p:nvPr/>
        </p:nvPicPr>
        <p:blipFill>
          <a:blip r:embed="rId5"/>
          <a:stretch>
            <a:fillRect/>
          </a:stretch>
        </p:blipFill>
        <p:spPr>
          <a:xfrm>
            <a:off x="1371600" y="1032177"/>
            <a:ext cx="4480241" cy="3238729"/>
          </a:xfrm>
          <a:prstGeom prst="rect">
            <a:avLst/>
          </a:prstGeom>
        </p:spPr>
      </p:pic>
    </p:spTree>
    <p:extLst>
      <p:ext uri="{BB962C8B-B14F-4D97-AF65-F5344CB8AC3E}">
        <p14:creationId xmlns:p14="http://schemas.microsoft.com/office/powerpoint/2010/main" val="1256046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55C2C-3392-6D4B-CFE2-3EAA6BC28F1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C6BEFE5-C56F-B489-5CF1-18B97990CAF4}"/>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4B27CF66-F4A8-9E2B-5DC3-BF1E84CBF2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9867FB5-49DB-15B7-1980-5310F484B1A9}"/>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3AE738DB-A31F-599F-58DA-D7FD5706B24C}"/>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87166A99-D901-B95C-27FC-EB9744C89729}"/>
              </a:ext>
            </a:extLst>
          </p:cNvPr>
          <p:cNvSpPr txBox="1"/>
          <p:nvPr/>
        </p:nvSpPr>
        <p:spPr>
          <a:xfrm>
            <a:off x="685800" y="4457699"/>
            <a:ext cx="10994410" cy="1375493"/>
          </a:xfrm>
          <a:prstGeom prst="rect">
            <a:avLst/>
          </a:prstGeom>
          <a:solidFill>
            <a:schemeClr val="bg1">
              <a:lumMod val="95000"/>
            </a:schemeClr>
          </a:solidFill>
          <a:ln w="28575">
            <a:solidFill>
              <a:srgbClr val="E0700D"/>
            </a:solidFill>
          </a:ln>
        </p:spPr>
        <p:txBody>
          <a:bodyPr wrap="square" rtlCol="0">
            <a:noAutofit/>
          </a:bodyPr>
          <a:lstStyle/>
          <a:p>
            <a:r>
              <a:rPr lang="es-ES" sz="1200" dirty="0">
                <a:latin typeface="Arial" panose="020B0604020202020204" pitchFamily="34" charset="0"/>
                <a:cs typeface="Arial" panose="020B0604020202020204" pitchFamily="34" charset="0"/>
              </a:rPr>
              <a:t>Este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lo hemos hecho nosotros. Este código lo que hace es meter el Interferómetro Mach-Zehnder (MZI) que se creó como célula dentro del marco de un chip y rutear todas sus entradas y salidas hacia los bordes. Primero, el script coloca el marco del chip (</a:t>
            </a:r>
            <a:r>
              <a:rPr lang="es-ES" sz="1200" dirty="0" err="1">
                <a:latin typeface="Arial" panose="020B0604020202020204" pitchFamily="34" charset="0"/>
                <a:cs typeface="Arial" panose="020B0604020202020204" pitchFamily="34" charset="0"/>
              </a:rPr>
              <a:t>die_ref</a:t>
            </a:r>
            <a:r>
              <a:rPr lang="es-ES" sz="1200" dirty="0">
                <a:latin typeface="Arial" panose="020B0604020202020204" pitchFamily="34" charset="0"/>
                <a:cs typeface="Arial" panose="020B0604020202020204" pitchFamily="34" charset="0"/>
              </a:rPr>
              <a:t>) y añade la célula del MZI (</a:t>
            </a:r>
            <a:r>
              <a:rPr lang="es-ES" sz="1200" dirty="0" err="1">
                <a:latin typeface="Arial" panose="020B0604020202020204" pitchFamily="34" charset="0"/>
                <a:cs typeface="Arial" panose="020B0604020202020204" pitchFamily="34" charset="0"/>
              </a:rPr>
              <a:t>cell_ref</a:t>
            </a:r>
            <a:r>
              <a:rPr lang="es-ES" sz="1200" dirty="0">
                <a:latin typeface="Arial" panose="020B0604020202020204" pitchFamily="34" charset="0"/>
                <a:cs typeface="Arial" panose="020B0604020202020204" pitchFamily="34" charset="0"/>
              </a:rPr>
              <a:t>) en el centro, configurándole paramétricamente un desfase largo (</a:t>
            </a:r>
            <a:r>
              <a:rPr lang="es-ES" sz="1200" dirty="0" err="1">
                <a:latin typeface="Arial" panose="020B0604020202020204" pitchFamily="34" charset="0"/>
                <a:cs typeface="Arial" panose="020B0604020202020204" pitchFamily="34" charset="0"/>
              </a:rPr>
              <a:t>delta_length</a:t>
            </a:r>
            <a:r>
              <a:rPr lang="es-ES" sz="1200" dirty="0">
                <a:latin typeface="Arial" panose="020B0604020202020204" pitchFamily="34" charset="0"/>
                <a:cs typeface="Arial" panose="020B0604020202020204" pitchFamily="34" charset="0"/>
              </a:rPr>
              <a:t>=40.0), curvas muy amplias (</a:t>
            </a:r>
            <a:r>
              <a:rPr lang="es-ES" sz="1200" dirty="0" err="1">
                <a:latin typeface="Arial" panose="020B0604020202020204" pitchFamily="34" charset="0"/>
                <a:cs typeface="Arial" panose="020B0604020202020204" pitchFamily="34" charset="0"/>
              </a:rPr>
              <a:t>radius</a:t>
            </a:r>
            <a:r>
              <a:rPr lang="es-ES" sz="1200" dirty="0">
                <a:latin typeface="Arial" panose="020B0604020202020204" pitchFamily="34" charset="0"/>
                <a:cs typeface="Arial" panose="020B0604020202020204" pitchFamily="34" charset="0"/>
              </a:rPr>
              <a:t>=</a:t>
            </a:r>
            <a:r>
              <a:rPr lang="es-ES" sz="1200">
                <a:latin typeface="Arial" panose="020B0604020202020204" pitchFamily="34" charset="0"/>
                <a:cs typeface="Arial" panose="020B0604020202020204" pitchFamily="34" charset="0"/>
              </a:rPr>
              <a:t>120.0). </a:t>
            </a:r>
            <a:r>
              <a:rPr lang="es-ES" sz="1200" dirty="0">
                <a:latin typeface="Arial" panose="020B0604020202020204" pitchFamily="34" charset="0"/>
                <a:cs typeface="Arial" panose="020B0604020202020204" pitchFamily="34" charset="0"/>
              </a:rPr>
              <a:t>Después, coloca dos guías rectas de entrada en el borde izquierdo (strin1 y strin2) y otras dos de salida en el borde derecho (strout1 y strout2), todas de 60 micras de largo para asegurar que el corte físico del chip pille tramos rectos. Por último, usa la función </a:t>
            </a:r>
            <a:r>
              <a:rPr lang="es-ES" sz="1200" dirty="0" err="1">
                <a:latin typeface="Arial" panose="020B0604020202020204" pitchFamily="34" charset="0"/>
                <a:cs typeface="Arial" panose="020B0604020202020204" pitchFamily="34" charset="0"/>
              </a:rPr>
              <a:t>route_single_sbend</a:t>
            </a:r>
            <a:r>
              <a:rPr lang="es-ES" sz="1200" dirty="0">
                <a:latin typeface="Arial" panose="020B0604020202020204" pitchFamily="34" charset="0"/>
                <a:cs typeface="Arial" panose="020B0604020202020204" pitchFamily="34" charset="0"/>
              </a:rPr>
              <a:t> para interconectar automáticamente los puertos cruzándolos a propósito (conecta la entrada superior del chip a la inferior del MZI, y viceversa), generando curvas en S que salvan los desniveles y dejan todo el circuito fotónico perfectamente conectado de lado a lado del chip.</a:t>
            </a:r>
          </a:p>
          <a:p>
            <a:endParaRPr lang="es-E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4100A19C-08FF-D690-0A8E-373E1A8CEC68}"/>
              </a:ext>
            </a:extLst>
          </p:cNvPr>
          <p:cNvSpPr/>
          <p:nvPr/>
        </p:nvSpPr>
        <p:spPr>
          <a:xfrm>
            <a:off x="7260611" y="1002737"/>
            <a:ext cx="4419599" cy="332121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A3128D48-0C6A-2267-E240-02A19D71081B}"/>
              </a:ext>
            </a:extLst>
          </p:cNvPr>
          <p:cNvSpPr txBox="1"/>
          <p:nvPr/>
        </p:nvSpPr>
        <p:spPr>
          <a:xfrm>
            <a:off x="7456871" y="3118286"/>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sp>
        <p:nvSpPr>
          <p:cNvPr id="7" name="Rectángulo 6">
            <a:extLst>
              <a:ext uri="{FF2B5EF4-FFF2-40B4-BE49-F238E27FC236}">
                <a16:creationId xmlns:a16="http://schemas.microsoft.com/office/drawing/2014/main" id="{3E1726FF-679D-EF50-4F1F-CBF153939D05}"/>
              </a:ext>
            </a:extLst>
          </p:cNvPr>
          <p:cNvSpPr/>
          <p:nvPr/>
        </p:nvSpPr>
        <p:spPr>
          <a:xfrm>
            <a:off x="685800" y="990285"/>
            <a:ext cx="6380419" cy="251491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C0F892AC-A4F2-B0C9-DC55-E83268E220F5}"/>
              </a:ext>
            </a:extLst>
          </p:cNvPr>
          <p:cNvPicPr>
            <a:picLocks noChangeAspect="1"/>
          </p:cNvPicPr>
          <p:nvPr/>
        </p:nvPicPr>
        <p:blipFill>
          <a:blip r:embed="rId4"/>
          <a:stretch>
            <a:fillRect/>
          </a:stretch>
        </p:blipFill>
        <p:spPr>
          <a:xfrm>
            <a:off x="7336811" y="1037258"/>
            <a:ext cx="4335965" cy="3286692"/>
          </a:xfrm>
          <a:prstGeom prst="rect">
            <a:avLst/>
          </a:prstGeom>
        </p:spPr>
      </p:pic>
      <p:pic>
        <p:nvPicPr>
          <p:cNvPr id="12" name="Imagen 11">
            <a:extLst>
              <a:ext uri="{FF2B5EF4-FFF2-40B4-BE49-F238E27FC236}">
                <a16:creationId xmlns:a16="http://schemas.microsoft.com/office/drawing/2014/main" id="{36DF8FEA-1EA5-0670-F9F0-ABC09408EB87}"/>
              </a:ext>
            </a:extLst>
          </p:cNvPr>
          <p:cNvPicPr>
            <a:picLocks noChangeAspect="1"/>
          </p:cNvPicPr>
          <p:nvPr/>
        </p:nvPicPr>
        <p:blipFill>
          <a:blip r:embed="rId5"/>
          <a:stretch>
            <a:fillRect/>
          </a:stretch>
        </p:blipFill>
        <p:spPr>
          <a:xfrm>
            <a:off x="837669" y="1032412"/>
            <a:ext cx="6172731" cy="2337922"/>
          </a:xfrm>
          <a:prstGeom prst="rect">
            <a:avLst/>
          </a:prstGeom>
        </p:spPr>
      </p:pic>
    </p:spTree>
    <p:extLst>
      <p:ext uri="{BB962C8B-B14F-4D97-AF65-F5344CB8AC3E}">
        <p14:creationId xmlns:p14="http://schemas.microsoft.com/office/powerpoint/2010/main" val="1405053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b) Creating die</a:t>
            </a:r>
          </a:p>
          <a:p>
            <a:pPr algn="just"/>
            <a:r>
              <a:rPr lang="en-US" sz="1200" dirty="0">
                <a:latin typeface="Arial" panose="020B0604020202020204" pitchFamily="34" charset="0"/>
                <a:cs typeface="Arial" panose="020B0604020202020204" pitchFamily="34" charset="0"/>
              </a:rPr>
              <a:t>- Create a die  W = 5 mm x L = 10 mm </a:t>
            </a:r>
          </a:p>
          <a:p>
            <a:pPr algn="just"/>
            <a:r>
              <a:rPr lang="en-US" sz="1200" dirty="0">
                <a:latin typeface="Arial" panose="020B0604020202020204" pitchFamily="34" charset="0"/>
                <a:cs typeface="Arial" panose="020B0604020202020204" pitchFamily="34" charset="0"/>
              </a:rPr>
              <a:t>- Create an array of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spaced at 250 µm (as much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as the width allows)</a:t>
            </a:r>
          </a:p>
          <a:p>
            <a:pPr algn="just"/>
            <a:r>
              <a:rPr lang="en-US" sz="1200" dirty="0">
                <a:latin typeface="Arial" panose="020B0604020202020204" pitchFamily="34" charset="0"/>
                <a:cs typeface="Arial" panose="020B0604020202020204" pitchFamily="34" charset="0"/>
              </a:rPr>
              <a:t>- Create a cell component of this die, with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accessible to connect</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r>
              <a:rPr lang="en-US" sz="1200" dirty="0">
                <a:latin typeface="Arial" panose="020B0604020202020204" pitchFamily="34" charset="0"/>
                <a:cs typeface="Arial" panose="020B0604020202020204" pitchFamily="34" charset="0"/>
              </a:rPr>
              <a:t>- Add 3 sets of 3 straight waveguides, from left to right of the die, top, middle and bottom of the die</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452515D-9AC0-62DB-2A62-0C197A32C5E7}"/>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sp>
        <p:nvSpPr>
          <p:cNvPr id="11" name="object 16">
            <a:extLst>
              <a:ext uri="{FF2B5EF4-FFF2-40B4-BE49-F238E27FC236}">
                <a16:creationId xmlns:a16="http://schemas.microsoft.com/office/drawing/2014/main" id="{5AAADDE0-38DB-20D9-DE6B-A80514C12E42}"/>
              </a:ext>
            </a:extLst>
          </p:cNvPr>
          <p:cNvSpPr txBox="1">
            <a:spLocks/>
          </p:cNvSpPr>
          <p:nvPr/>
        </p:nvSpPr>
        <p:spPr>
          <a:xfrm>
            <a:off x="685800" y="408883"/>
            <a:ext cx="10994410" cy="3975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lgn="l">
              <a:spcBef>
                <a:spcPts val="100"/>
              </a:spcBef>
            </a:pPr>
            <a:r>
              <a:rPr lang="en-US" sz="2500" kern="0"/>
              <a:t>Learning outcome #4 – Notebook section 4. Exercises – 1 slide per bullet point</a:t>
            </a:r>
            <a:endParaRPr lang="en-US" sz="2500" b="0" i="1" kern="0" dirty="0">
              <a:latin typeface="+mj-lt"/>
              <a:cs typeface="Lucida Sans"/>
            </a:endParaRPr>
          </a:p>
        </p:txBody>
      </p:sp>
    </p:spTree>
    <p:extLst>
      <p:ext uri="{BB962C8B-B14F-4D97-AF65-F5344CB8AC3E}">
        <p14:creationId xmlns:p14="http://schemas.microsoft.com/office/powerpoint/2010/main" val="708738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9A17F-2D21-1F5A-40EF-7B890B04E5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5CFC17E-1249-E724-59E3-2C6DD86307CB}"/>
              </a:ext>
            </a:extLst>
          </p:cNvPr>
          <p:cNvSpPr txBox="1">
            <a:spLocks noGrp="1"/>
          </p:cNvSpPr>
          <p:nvPr>
            <p:ph type="title"/>
          </p:nvPr>
        </p:nvSpPr>
        <p:spPr>
          <a:xfrm>
            <a:off x="685800" y="408883"/>
            <a:ext cx="10994410" cy="228268"/>
          </a:xfrm>
          <a:prstGeom prst="rect">
            <a:avLst/>
          </a:prstGeom>
        </p:spPr>
        <p:txBody>
          <a:bodyPr vert="horz" wrap="square" lIns="0" tIns="12700" rIns="0" bIns="0" rtlCol="0">
            <a:spAutoFit/>
          </a:bodyPr>
          <a:lstStyle/>
          <a:p>
            <a:pPr algn="just"/>
            <a:r>
              <a:rPr lang="en-US" sz="1400" dirty="0">
                <a:latin typeface="Arial" panose="020B0604020202020204" pitchFamily="34" charset="0"/>
                <a:cs typeface="Arial" panose="020B0604020202020204" pitchFamily="34" charset="0"/>
              </a:rPr>
              <a:t>- Create a cell component for a unbalanced MZI, using 2x2 50:50 MMIs with arm length difference as parameter</a:t>
            </a:r>
          </a:p>
        </p:txBody>
      </p:sp>
      <p:pic>
        <p:nvPicPr>
          <p:cNvPr id="83" name="Gráfico 82">
            <a:extLst>
              <a:ext uri="{FF2B5EF4-FFF2-40B4-BE49-F238E27FC236}">
                <a16:creationId xmlns:a16="http://schemas.microsoft.com/office/drawing/2014/main" id="{742A2AFA-37B8-7F77-FD7F-899485FC46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C252156-D320-270D-AFB6-39F9944C1E46}"/>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71138B55-0FE8-390A-7F19-42E0790BD6E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8" name="Rectángulo 7">
            <a:extLst>
              <a:ext uri="{FF2B5EF4-FFF2-40B4-BE49-F238E27FC236}">
                <a16:creationId xmlns:a16="http://schemas.microsoft.com/office/drawing/2014/main" id="{31A8F8F0-43FD-E36E-44F2-ECCE534F3A71}"/>
              </a:ext>
            </a:extLst>
          </p:cNvPr>
          <p:cNvSpPr/>
          <p:nvPr/>
        </p:nvSpPr>
        <p:spPr>
          <a:xfrm>
            <a:off x="3275113" y="977275"/>
            <a:ext cx="4952999" cy="374355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A46AC4D-FF3C-F5E8-F27C-D0AD49EDC40A}"/>
              </a:ext>
            </a:extLst>
          </p:cNvPr>
          <p:cNvSpPr txBox="1"/>
          <p:nvPr/>
        </p:nvSpPr>
        <p:spPr>
          <a:xfrm>
            <a:off x="4521231" y="309282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25DA1D89-79A3-845D-8CF7-6DF1BE5F310A}"/>
              </a:ext>
            </a:extLst>
          </p:cNvPr>
          <p:cNvPicPr>
            <a:picLocks noChangeAspect="1"/>
          </p:cNvPicPr>
          <p:nvPr/>
        </p:nvPicPr>
        <p:blipFill>
          <a:blip r:embed="rId4"/>
          <a:stretch>
            <a:fillRect/>
          </a:stretch>
        </p:blipFill>
        <p:spPr>
          <a:xfrm>
            <a:off x="3365810" y="1047874"/>
            <a:ext cx="4705229" cy="3566597"/>
          </a:xfrm>
          <a:prstGeom prst="rect">
            <a:avLst/>
          </a:prstGeom>
        </p:spPr>
      </p:pic>
      <p:pic>
        <p:nvPicPr>
          <p:cNvPr id="7" name="Imagen 6">
            <a:extLst>
              <a:ext uri="{FF2B5EF4-FFF2-40B4-BE49-F238E27FC236}">
                <a16:creationId xmlns:a16="http://schemas.microsoft.com/office/drawing/2014/main" id="{4567B9BE-A451-B2EF-91D9-42B21F2D1BAA}"/>
              </a:ext>
            </a:extLst>
          </p:cNvPr>
          <p:cNvPicPr>
            <a:picLocks noChangeAspect="1"/>
          </p:cNvPicPr>
          <p:nvPr/>
        </p:nvPicPr>
        <p:blipFill>
          <a:blip r:embed="rId5"/>
          <a:stretch>
            <a:fillRect/>
          </a:stretch>
        </p:blipFill>
        <p:spPr>
          <a:xfrm>
            <a:off x="2362200" y="4852137"/>
            <a:ext cx="6705600" cy="1028588"/>
          </a:xfrm>
          <a:prstGeom prst="rect">
            <a:avLst/>
          </a:prstGeom>
        </p:spPr>
      </p:pic>
    </p:spTree>
    <p:extLst>
      <p:ext uri="{BB962C8B-B14F-4D97-AF65-F5344CB8AC3E}">
        <p14:creationId xmlns:p14="http://schemas.microsoft.com/office/powerpoint/2010/main" val="1503337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17A5E-10DD-20F7-84C2-95EB92BC29B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97C468E-2ED4-4E5B-BF61-26B21DB4BE59}"/>
              </a:ext>
            </a:extLst>
          </p:cNvPr>
          <p:cNvSpPr txBox="1">
            <a:spLocks noGrp="1"/>
          </p:cNvSpPr>
          <p:nvPr>
            <p:ph type="title"/>
          </p:nvPr>
        </p:nvSpPr>
        <p:spPr>
          <a:xfrm>
            <a:off x="685800" y="408883"/>
            <a:ext cx="10994410" cy="228268"/>
          </a:xfrm>
          <a:prstGeom prst="rect">
            <a:avLst/>
          </a:prstGeom>
        </p:spPr>
        <p:txBody>
          <a:bodyPr vert="horz" wrap="square" lIns="0" tIns="12700" rIns="0" bIns="0" rtlCol="0">
            <a:spAutoFit/>
          </a:bodyPr>
          <a:lstStyle/>
          <a:p>
            <a:pPr algn="just"/>
            <a:r>
              <a:rPr lang="en-US" sz="1400" dirty="0">
                <a:latin typeface="Arial" panose="020B0604020202020204" pitchFamily="34" charset="0"/>
                <a:cs typeface="Arial" panose="020B0604020202020204" pitchFamily="34" charset="0"/>
              </a:rPr>
              <a:t>- Create a cell component based on the previous, where the arms have thermal tuners on top of each one</a:t>
            </a:r>
          </a:p>
        </p:txBody>
      </p:sp>
      <p:pic>
        <p:nvPicPr>
          <p:cNvPr id="83" name="Gráfico 82">
            <a:extLst>
              <a:ext uri="{FF2B5EF4-FFF2-40B4-BE49-F238E27FC236}">
                <a16:creationId xmlns:a16="http://schemas.microsoft.com/office/drawing/2014/main" id="{CFD67513-5419-2D49-33DF-15AF622747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454F8E5-0DEB-7CA6-5AA5-0A4F9171A183}"/>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9C897ACE-B36A-8A65-89EE-0EAEB615ECB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5" name="Rectángulo 4">
            <a:extLst>
              <a:ext uri="{FF2B5EF4-FFF2-40B4-BE49-F238E27FC236}">
                <a16:creationId xmlns:a16="http://schemas.microsoft.com/office/drawing/2014/main" id="{E838E1F0-A5DC-3242-1C1C-4BC7EF5F77C6}"/>
              </a:ext>
            </a:extLst>
          </p:cNvPr>
          <p:cNvSpPr/>
          <p:nvPr/>
        </p:nvSpPr>
        <p:spPr>
          <a:xfrm>
            <a:off x="3275113" y="977275"/>
            <a:ext cx="4952999" cy="374355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4497B8EF-EB33-F230-AC92-52A0CCCF6B7C}"/>
              </a:ext>
            </a:extLst>
          </p:cNvPr>
          <p:cNvSpPr txBox="1"/>
          <p:nvPr/>
        </p:nvSpPr>
        <p:spPr>
          <a:xfrm>
            <a:off x="4521231" y="309282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15" name="Imagen 14">
            <a:extLst>
              <a:ext uri="{FF2B5EF4-FFF2-40B4-BE49-F238E27FC236}">
                <a16:creationId xmlns:a16="http://schemas.microsoft.com/office/drawing/2014/main" id="{05C6AA35-7EA2-C2E7-E175-A10D908DBBE0}"/>
              </a:ext>
            </a:extLst>
          </p:cNvPr>
          <p:cNvPicPr>
            <a:picLocks noChangeAspect="1"/>
          </p:cNvPicPr>
          <p:nvPr/>
        </p:nvPicPr>
        <p:blipFill>
          <a:blip r:embed="rId4"/>
          <a:stretch>
            <a:fillRect/>
          </a:stretch>
        </p:blipFill>
        <p:spPr>
          <a:xfrm>
            <a:off x="2362200" y="4895181"/>
            <a:ext cx="7078063" cy="981212"/>
          </a:xfrm>
          <a:prstGeom prst="rect">
            <a:avLst/>
          </a:prstGeom>
        </p:spPr>
      </p:pic>
      <p:pic>
        <p:nvPicPr>
          <p:cNvPr id="18" name="Imagen 17">
            <a:extLst>
              <a:ext uri="{FF2B5EF4-FFF2-40B4-BE49-F238E27FC236}">
                <a16:creationId xmlns:a16="http://schemas.microsoft.com/office/drawing/2014/main" id="{491DCBA2-0768-4541-ECCD-941D514E6295}"/>
              </a:ext>
            </a:extLst>
          </p:cNvPr>
          <p:cNvPicPr>
            <a:picLocks noChangeAspect="1"/>
          </p:cNvPicPr>
          <p:nvPr/>
        </p:nvPicPr>
        <p:blipFill>
          <a:blip r:embed="rId5"/>
          <a:stretch>
            <a:fillRect/>
          </a:stretch>
        </p:blipFill>
        <p:spPr>
          <a:xfrm>
            <a:off x="3352800" y="1009069"/>
            <a:ext cx="4875312" cy="3656483"/>
          </a:xfrm>
          <a:prstGeom prst="rect">
            <a:avLst/>
          </a:prstGeom>
        </p:spPr>
      </p:pic>
    </p:spTree>
    <p:extLst>
      <p:ext uri="{BB962C8B-B14F-4D97-AF65-F5344CB8AC3E}">
        <p14:creationId xmlns:p14="http://schemas.microsoft.com/office/powerpoint/2010/main" val="1478153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8EAAB-7189-49AE-4E6F-50C4BE1ABD0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9002F08-C26C-B294-10A0-6F912778FC7A}"/>
              </a:ext>
            </a:extLst>
          </p:cNvPr>
          <p:cNvSpPr txBox="1">
            <a:spLocks noGrp="1"/>
          </p:cNvSpPr>
          <p:nvPr>
            <p:ph type="title"/>
          </p:nvPr>
        </p:nvSpPr>
        <p:spPr>
          <a:xfrm>
            <a:off x="685800" y="408883"/>
            <a:ext cx="10994410" cy="228268"/>
          </a:xfrm>
          <a:prstGeom prst="rect">
            <a:avLst/>
          </a:prstGeom>
        </p:spPr>
        <p:txBody>
          <a:bodyPr vert="horz" wrap="square" lIns="0" tIns="12700" rIns="0" bIns="0" rtlCol="0">
            <a:spAutoFit/>
          </a:bodyPr>
          <a:lstStyle/>
          <a:p>
            <a:pPr algn="just"/>
            <a:r>
              <a:rPr lang="en-US" sz="14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p:txBody>
      </p:sp>
      <p:pic>
        <p:nvPicPr>
          <p:cNvPr id="83" name="Gráfico 82">
            <a:extLst>
              <a:ext uri="{FF2B5EF4-FFF2-40B4-BE49-F238E27FC236}">
                <a16:creationId xmlns:a16="http://schemas.microsoft.com/office/drawing/2014/main" id="{363232AB-5D29-234F-2031-AB40DF356B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D1EBB1B-5CC0-CB4E-9004-832E288C716C}"/>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F276FCA2-474C-D76F-6EF6-65FC87E9D3F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5" name="Rectángulo 4">
            <a:extLst>
              <a:ext uri="{FF2B5EF4-FFF2-40B4-BE49-F238E27FC236}">
                <a16:creationId xmlns:a16="http://schemas.microsoft.com/office/drawing/2014/main" id="{931A1706-4A0D-F146-C876-A1BEF4EAE15A}"/>
              </a:ext>
            </a:extLst>
          </p:cNvPr>
          <p:cNvSpPr/>
          <p:nvPr/>
        </p:nvSpPr>
        <p:spPr>
          <a:xfrm>
            <a:off x="3275113" y="977275"/>
            <a:ext cx="4952999" cy="374355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A88F65F-5A42-C8BC-6FB8-306C3B2A309C}"/>
              </a:ext>
            </a:extLst>
          </p:cNvPr>
          <p:cNvSpPr txBox="1"/>
          <p:nvPr/>
        </p:nvSpPr>
        <p:spPr>
          <a:xfrm>
            <a:off x="4521231" y="309282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15" name="Imagen 14">
            <a:extLst>
              <a:ext uri="{FF2B5EF4-FFF2-40B4-BE49-F238E27FC236}">
                <a16:creationId xmlns:a16="http://schemas.microsoft.com/office/drawing/2014/main" id="{3A540425-811F-65C4-A9B2-E0F8623CE868}"/>
              </a:ext>
            </a:extLst>
          </p:cNvPr>
          <p:cNvPicPr>
            <a:picLocks noChangeAspect="1"/>
          </p:cNvPicPr>
          <p:nvPr/>
        </p:nvPicPr>
        <p:blipFill>
          <a:blip r:embed="rId4"/>
          <a:stretch>
            <a:fillRect/>
          </a:stretch>
        </p:blipFill>
        <p:spPr>
          <a:xfrm>
            <a:off x="3352800" y="1037423"/>
            <a:ext cx="4800600" cy="3619703"/>
          </a:xfrm>
          <a:prstGeom prst="rect">
            <a:avLst/>
          </a:prstGeom>
        </p:spPr>
      </p:pic>
      <p:pic>
        <p:nvPicPr>
          <p:cNvPr id="18" name="Imagen 17">
            <a:extLst>
              <a:ext uri="{FF2B5EF4-FFF2-40B4-BE49-F238E27FC236}">
                <a16:creationId xmlns:a16="http://schemas.microsoft.com/office/drawing/2014/main" id="{A4E8C957-EE67-7DC6-7F67-44E10C93F44A}"/>
              </a:ext>
            </a:extLst>
          </p:cNvPr>
          <p:cNvPicPr>
            <a:picLocks noChangeAspect="1"/>
          </p:cNvPicPr>
          <p:nvPr/>
        </p:nvPicPr>
        <p:blipFill>
          <a:blip r:embed="rId5"/>
          <a:stretch>
            <a:fillRect/>
          </a:stretch>
        </p:blipFill>
        <p:spPr>
          <a:xfrm>
            <a:off x="3502968" y="4793998"/>
            <a:ext cx="4497287" cy="1088586"/>
          </a:xfrm>
          <a:prstGeom prst="rect">
            <a:avLst/>
          </a:prstGeom>
        </p:spPr>
      </p:pic>
    </p:spTree>
    <p:extLst>
      <p:ext uri="{BB962C8B-B14F-4D97-AF65-F5344CB8AC3E}">
        <p14:creationId xmlns:p14="http://schemas.microsoft.com/office/powerpoint/2010/main" val="639150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AA823-94DA-8D83-8DC7-E853CAF4872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75010A-3E60-4302-5FF2-28D74784CCE6}"/>
              </a:ext>
            </a:extLst>
          </p:cNvPr>
          <p:cNvSpPr txBox="1">
            <a:spLocks noGrp="1"/>
          </p:cNvSpPr>
          <p:nvPr>
            <p:ph type="title"/>
          </p:nvPr>
        </p:nvSpPr>
        <p:spPr>
          <a:xfrm>
            <a:off x="685800" y="408883"/>
            <a:ext cx="10994410" cy="228268"/>
          </a:xfrm>
          <a:prstGeom prst="rect">
            <a:avLst/>
          </a:prstGeom>
        </p:spPr>
        <p:txBody>
          <a:bodyPr vert="horz" wrap="square" lIns="0" tIns="12700" rIns="0" bIns="0" rtlCol="0">
            <a:spAutoFit/>
          </a:bodyPr>
          <a:lstStyle/>
          <a:p>
            <a:pPr algn="just"/>
            <a:r>
              <a:rPr lang="en-US" sz="1400" dirty="0">
                <a:latin typeface="Arial" panose="020B0604020202020204" pitchFamily="34" charset="0"/>
                <a:cs typeface="Arial" panose="020B0604020202020204" pitchFamily="34" charset="0"/>
              </a:rPr>
              <a:t>- Create a cell component based on the previous, where the ring has a thermal tuner on top along all the perimeter</a:t>
            </a:r>
          </a:p>
        </p:txBody>
      </p:sp>
      <p:pic>
        <p:nvPicPr>
          <p:cNvPr id="83" name="Gráfico 82">
            <a:extLst>
              <a:ext uri="{FF2B5EF4-FFF2-40B4-BE49-F238E27FC236}">
                <a16:creationId xmlns:a16="http://schemas.microsoft.com/office/drawing/2014/main" id="{869B10F9-F888-1B61-6934-2BD9A8F73B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4A8E0E2-234F-8D7D-7E56-9DEDF4E246E7}"/>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D04EE370-DEB1-C5ED-C113-8A0C21A22A9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5" name="Rectángulo 4">
            <a:extLst>
              <a:ext uri="{FF2B5EF4-FFF2-40B4-BE49-F238E27FC236}">
                <a16:creationId xmlns:a16="http://schemas.microsoft.com/office/drawing/2014/main" id="{A91E6050-E6B6-BDB1-1C47-59A57E457003}"/>
              </a:ext>
            </a:extLst>
          </p:cNvPr>
          <p:cNvSpPr/>
          <p:nvPr/>
        </p:nvSpPr>
        <p:spPr>
          <a:xfrm>
            <a:off x="3275113" y="977275"/>
            <a:ext cx="4952999" cy="374355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DB0887C-F38E-26FB-390B-AEDB549AB5CB}"/>
              </a:ext>
            </a:extLst>
          </p:cNvPr>
          <p:cNvSpPr txBox="1"/>
          <p:nvPr/>
        </p:nvSpPr>
        <p:spPr>
          <a:xfrm>
            <a:off x="4521231" y="309282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15" name="Imagen 14">
            <a:extLst>
              <a:ext uri="{FF2B5EF4-FFF2-40B4-BE49-F238E27FC236}">
                <a16:creationId xmlns:a16="http://schemas.microsoft.com/office/drawing/2014/main" id="{664D0F99-C753-6D42-56C9-17F212EF88C4}"/>
              </a:ext>
            </a:extLst>
          </p:cNvPr>
          <p:cNvPicPr>
            <a:picLocks noChangeAspect="1"/>
          </p:cNvPicPr>
          <p:nvPr/>
        </p:nvPicPr>
        <p:blipFill>
          <a:blip r:embed="rId4"/>
          <a:stretch>
            <a:fillRect/>
          </a:stretch>
        </p:blipFill>
        <p:spPr>
          <a:xfrm>
            <a:off x="3389971" y="1051063"/>
            <a:ext cx="4735551" cy="3595979"/>
          </a:xfrm>
          <a:prstGeom prst="rect">
            <a:avLst/>
          </a:prstGeom>
        </p:spPr>
      </p:pic>
      <p:pic>
        <p:nvPicPr>
          <p:cNvPr id="18" name="Imagen 17">
            <a:extLst>
              <a:ext uri="{FF2B5EF4-FFF2-40B4-BE49-F238E27FC236}">
                <a16:creationId xmlns:a16="http://schemas.microsoft.com/office/drawing/2014/main" id="{340474C2-7BB6-4202-9DBE-171DCF5678AA}"/>
              </a:ext>
            </a:extLst>
          </p:cNvPr>
          <p:cNvPicPr>
            <a:picLocks noChangeAspect="1"/>
          </p:cNvPicPr>
          <p:nvPr/>
        </p:nvPicPr>
        <p:blipFill>
          <a:blip r:embed="rId5"/>
          <a:stretch>
            <a:fillRect/>
          </a:stretch>
        </p:blipFill>
        <p:spPr>
          <a:xfrm>
            <a:off x="3489109" y="4856010"/>
            <a:ext cx="4525006" cy="914528"/>
          </a:xfrm>
          <a:prstGeom prst="rect">
            <a:avLst/>
          </a:prstGeom>
        </p:spPr>
      </p:pic>
    </p:spTree>
    <p:extLst>
      <p:ext uri="{BB962C8B-B14F-4D97-AF65-F5344CB8AC3E}">
        <p14:creationId xmlns:p14="http://schemas.microsoft.com/office/powerpoint/2010/main" val="718792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0F78C-3F72-14D8-423B-5DE7601E14C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106FA3E-ED97-1806-C714-2018EAA9A1B9}"/>
              </a:ext>
            </a:extLst>
          </p:cNvPr>
          <p:cNvSpPr txBox="1">
            <a:spLocks noGrp="1"/>
          </p:cNvSpPr>
          <p:nvPr>
            <p:ph type="title"/>
          </p:nvPr>
        </p:nvSpPr>
        <p:spPr>
          <a:xfrm>
            <a:off x="685800" y="408883"/>
            <a:ext cx="10994410" cy="228268"/>
          </a:xfrm>
          <a:prstGeom prst="rect">
            <a:avLst/>
          </a:prstGeom>
        </p:spPr>
        <p:txBody>
          <a:bodyPr vert="horz" wrap="square" lIns="0" tIns="12700" rIns="0" bIns="0" rtlCol="0">
            <a:spAutoFit/>
          </a:bodyPr>
          <a:lstStyle/>
          <a:p>
            <a:pPr algn="just"/>
            <a:r>
              <a:rPr lang="en-US" sz="1400" dirty="0">
                <a:latin typeface="Arial" panose="020B0604020202020204" pitchFamily="34" charset="0"/>
                <a:cs typeface="Arial" panose="020B0604020202020204" pitchFamily="34" charset="0"/>
              </a:rPr>
              <a:t>- Create a cell component based on existing </a:t>
            </a:r>
            <a:r>
              <a:rPr lang="en-US" sz="1400" dirty="0" err="1">
                <a:latin typeface="Arial" panose="020B0604020202020204" pitchFamily="34" charset="0"/>
                <a:cs typeface="Arial" panose="020B0604020202020204" pitchFamily="34" charset="0"/>
              </a:rPr>
              <a:t>GDSfactory</a:t>
            </a:r>
            <a:r>
              <a:rPr lang="en-US" sz="1400" dirty="0">
                <a:latin typeface="Arial" panose="020B0604020202020204" pitchFamily="34" charset="0"/>
                <a:cs typeface="Arial" panose="020B0604020202020204" pitchFamily="34" charset="0"/>
              </a:rPr>
              <a:t> spiral components, with length as parameter</a:t>
            </a:r>
          </a:p>
        </p:txBody>
      </p:sp>
      <p:pic>
        <p:nvPicPr>
          <p:cNvPr id="83" name="Gráfico 82">
            <a:extLst>
              <a:ext uri="{FF2B5EF4-FFF2-40B4-BE49-F238E27FC236}">
                <a16:creationId xmlns:a16="http://schemas.microsoft.com/office/drawing/2014/main" id="{A4455BDB-D91E-415B-AD8E-EF094ED610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1A7CE27-612A-8170-E473-4F4F3DE7B257}"/>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8339837B-03A4-B4E5-91F9-ABCE01FDEDE8}"/>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5" name="Rectángulo 4">
            <a:extLst>
              <a:ext uri="{FF2B5EF4-FFF2-40B4-BE49-F238E27FC236}">
                <a16:creationId xmlns:a16="http://schemas.microsoft.com/office/drawing/2014/main" id="{B707CF17-C003-9E43-203D-A034C5FB764E}"/>
              </a:ext>
            </a:extLst>
          </p:cNvPr>
          <p:cNvSpPr/>
          <p:nvPr/>
        </p:nvSpPr>
        <p:spPr>
          <a:xfrm>
            <a:off x="837456" y="965136"/>
            <a:ext cx="4952999" cy="374355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F61DF2D0-76C1-22A6-675B-882D858CFE50}"/>
              </a:ext>
            </a:extLst>
          </p:cNvPr>
          <p:cNvSpPr txBox="1"/>
          <p:nvPr/>
        </p:nvSpPr>
        <p:spPr>
          <a:xfrm>
            <a:off x="2083574" y="3080685"/>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15" name="Imagen 14">
            <a:extLst>
              <a:ext uri="{FF2B5EF4-FFF2-40B4-BE49-F238E27FC236}">
                <a16:creationId xmlns:a16="http://schemas.microsoft.com/office/drawing/2014/main" id="{E1988A15-FC9D-0554-D932-C2C4580F400B}"/>
              </a:ext>
            </a:extLst>
          </p:cNvPr>
          <p:cNvPicPr>
            <a:picLocks noChangeAspect="1"/>
          </p:cNvPicPr>
          <p:nvPr/>
        </p:nvPicPr>
        <p:blipFill>
          <a:blip r:embed="rId4"/>
          <a:stretch>
            <a:fillRect/>
          </a:stretch>
        </p:blipFill>
        <p:spPr>
          <a:xfrm>
            <a:off x="915144" y="990600"/>
            <a:ext cx="4875312" cy="3688957"/>
          </a:xfrm>
          <a:prstGeom prst="rect">
            <a:avLst/>
          </a:prstGeom>
        </p:spPr>
      </p:pic>
      <p:sp>
        <p:nvSpPr>
          <p:cNvPr id="18" name="Rectángulo 17">
            <a:extLst>
              <a:ext uri="{FF2B5EF4-FFF2-40B4-BE49-F238E27FC236}">
                <a16:creationId xmlns:a16="http://schemas.microsoft.com/office/drawing/2014/main" id="{DD2C0C9C-DA89-AD27-A6FD-CE1B40DC6B2E}"/>
              </a:ext>
            </a:extLst>
          </p:cNvPr>
          <p:cNvSpPr/>
          <p:nvPr/>
        </p:nvSpPr>
        <p:spPr>
          <a:xfrm>
            <a:off x="6018312" y="965136"/>
            <a:ext cx="5792688" cy="414026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Imagen 23">
            <a:extLst>
              <a:ext uri="{FF2B5EF4-FFF2-40B4-BE49-F238E27FC236}">
                <a16:creationId xmlns:a16="http://schemas.microsoft.com/office/drawing/2014/main" id="{CBAFF344-00F5-E2FF-52FC-555E03E1E9DA}"/>
              </a:ext>
            </a:extLst>
          </p:cNvPr>
          <p:cNvPicPr>
            <a:picLocks noChangeAspect="1"/>
          </p:cNvPicPr>
          <p:nvPr/>
        </p:nvPicPr>
        <p:blipFill>
          <a:blip r:embed="rId5"/>
          <a:stretch>
            <a:fillRect/>
          </a:stretch>
        </p:blipFill>
        <p:spPr>
          <a:xfrm>
            <a:off x="6096000" y="1044128"/>
            <a:ext cx="5593013" cy="3908872"/>
          </a:xfrm>
          <a:prstGeom prst="rect">
            <a:avLst/>
          </a:prstGeom>
        </p:spPr>
      </p:pic>
    </p:spTree>
    <p:extLst>
      <p:ext uri="{BB962C8B-B14F-4D97-AF65-F5344CB8AC3E}">
        <p14:creationId xmlns:p14="http://schemas.microsoft.com/office/powerpoint/2010/main" val="3326965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9AE0C-F442-C78B-EBC2-307B436D10A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F15A357-685E-8157-4139-29DB12926F5F}"/>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algn="l"/>
            <a:r>
              <a:rPr lang="en-US" sz="1400" dirty="0">
                <a:latin typeface="Arial" panose="020B0604020202020204" pitchFamily="34" charset="0"/>
                <a:cs typeface="Arial" panose="020B0604020202020204" pitchFamily="34" charset="0"/>
              </a:rPr>
              <a:t>Part b) Creating die</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 Create a die  W = 5 mm x L = 10 mm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 Create an array of I/</a:t>
            </a:r>
            <a:r>
              <a:rPr lang="en-US" sz="1400" dirty="0" err="1">
                <a:latin typeface="Arial" panose="020B0604020202020204" pitchFamily="34" charset="0"/>
                <a:cs typeface="Arial" panose="020B0604020202020204" pitchFamily="34" charset="0"/>
              </a:rPr>
              <a:t>Os</a:t>
            </a:r>
            <a:r>
              <a:rPr lang="en-US" sz="1400" dirty="0">
                <a:latin typeface="Arial" panose="020B0604020202020204" pitchFamily="34" charset="0"/>
                <a:cs typeface="Arial" panose="020B0604020202020204" pitchFamily="34" charset="0"/>
              </a:rPr>
              <a:t> spaced at 250 µm (as much I/</a:t>
            </a:r>
            <a:r>
              <a:rPr lang="en-US" sz="1400" dirty="0" err="1">
                <a:latin typeface="Arial" panose="020B0604020202020204" pitchFamily="34" charset="0"/>
                <a:cs typeface="Arial" panose="020B0604020202020204" pitchFamily="34" charset="0"/>
              </a:rPr>
              <a:t>Os</a:t>
            </a:r>
            <a:r>
              <a:rPr lang="en-US" sz="1400" dirty="0">
                <a:latin typeface="Arial" panose="020B0604020202020204" pitchFamily="34" charset="0"/>
                <a:cs typeface="Arial" panose="020B0604020202020204" pitchFamily="34" charset="0"/>
              </a:rPr>
              <a:t> as the width allows)</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 Create a cell component of this die, with I/</a:t>
            </a:r>
            <a:r>
              <a:rPr lang="en-US" sz="1400" dirty="0" err="1">
                <a:latin typeface="Arial" panose="020B0604020202020204" pitchFamily="34" charset="0"/>
                <a:cs typeface="Arial" panose="020B0604020202020204" pitchFamily="34" charset="0"/>
              </a:rPr>
              <a:t>Os</a:t>
            </a:r>
            <a:r>
              <a:rPr lang="en-US" sz="1400" dirty="0">
                <a:latin typeface="Arial" panose="020B0604020202020204" pitchFamily="34" charset="0"/>
                <a:cs typeface="Arial" panose="020B0604020202020204" pitchFamily="34" charset="0"/>
              </a:rPr>
              <a:t> accessible to connect</a:t>
            </a:r>
          </a:p>
        </p:txBody>
      </p:sp>
      <p:pic>
        <p:nvPicPr>
          <p:cNvPr id="83" name="Gráfico 82">
            <a:extLst>
              <a:ext uri="{FF2B5EF4-FFF2-40B4-BE49-F238E27FC236}">
                <a16:creationId xmlns:a16="http://schemas.microsoft.com/office/drawing/2014/main" id="{AC1D4F67-41FB-4EE9-C221-9E1C69CD5C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72BC2F3-E3EE-2300-CC58-C6507B90A4E7}"/>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F4F1B99F-BC76-B819-1A29-577DE30F20D5}"/>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87E7620E-4EFF-0B9E-C4F6-D3FD3BD26F9B}"/>
              </a:ext>
            </a:extLst>
          </p:cNvPr>
          <p:cNvSpPr txBox="1"/>
          <p:nvPr/>
        </p:nvSpPr>
        <p:spPr>
          <a:xfrm>
            <a:off x="680224" y="1524000"/>
            <a:ext cx="5410200" cy="32004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4F8C981A-F10A-AB4E-0104-AE41F6C62F73}"/>
              </a:ext>
            </a:extLst>
          </p:cNvPr>
          <p:cNvSpPr/>
          <p:nvPr/>
        </p:nvSpPr>
        <p:spPr>
          <a:xfrm>
            <a:off x="6242824" y="1523685"/>
            <a:ext cx="5638799" cy="406752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D604032-9E17-797B-E10E-D5B0694C232A}"/>
              </a:ext>
            </a:extLst>
          </p:cNvPr>
          <p:cNvSpPr txBox="1"/>
          <p:nvPr/>
        </p:nvSpPr>
        <p:spPr>
          <a:xfrm>
            <a:off x="8174742" y="36392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F1D81246-2F3E-B2C0-13CD-9288BE926AFE}"/>
              </a:ext>
            </a:extLst>
          </p:cNvPr>
          <p:cNvPicPr>
            <a:picLocks noChangeAspect="1"/>
          </p:cNvPicPr>
          <p:nvPr/>
        </p:nvPicPr>
        <p:blipFill>
          <a:blip r:embed="rId4"/>
          <a:stretch>
            <a:fillRect/>
          </a:stretch>
        </p:blipFill>
        <p:spPr>
          <a:xfrm>
            <a:off x="6385324" y="1542520"/>
            <a:ext cx="5353797" cy="4048690"/>
          </a:xfrm>
          <a:prstGeom prst="rect">
            <a:avLst/>
          </a:prstGeom>
        </p:spPr>
      </p:pic>
      <p:pic>
        <p:nvPicPr>
          <p:cNvPr id="7" name="Imagen 6">
            <a:extLst>
              <a:ext uri="{FF2B5EF4-FFF2-40B4-BE49-F238E27FC236}">
                <a16:creationId xmlns:a16="http://schemas.microsoft.com/office/drawing/2014/main" id="{92C0F660-8F54-9867-0C1A-1003A30EC7C9}"/>
              </a:ext>
            </a:extLst>
          </p:cNvPr>
          <p:cNvPicPr>
            <a:picLocks noChangeAspect="1"/>
          </p:cNvPicPr>
          <p:nvPr/>
        </p:nvPicPr>
        <p:blipFill>
          <a:blip r:embed="rId5"/>
          <a:stretch>
            <a:fillRect/>
          </a:stretch>
        </p:blipFill>
        <p:spPr>
          <a:xfrm>
            <a:off x="762000" y="1704137"/>
            <a:ext cx="5181600" cy="2846331"/>
          </a:xfrm>
          <a:prstGeom prst="rect">
            <a:avLst/>
          </a:prstGeom>
        </p:spPr>
      </p:pic>
    </p:spTree>
    <p:extLst>
      <p:ext uri="{BB962C8B-B14F-4D97-AF65-F5344CB8AC3E}">
        <p14:creationId xmlns:p14="http://schemas.microsoft.com/office/powerpoint/2010/main" val="2227176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D47F8-BE54-435E-42EA-715478E4DA7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B921A08-18C7-6BB3-C324-8C85A8B0A60E}"/>
              </a:ext>
            </a:extLst>
          </p:cNvPr>
          <p:cNvSpPr txBox="1">
            <a:spLocks noGrp="1"/>
          </p:cNvSpPr>
          <p:nvPr>
            <p:ph type="title"/>
          </p:nvPr>
        </p:nvSpPr>
        <p:spPr>
          <a:xfrm>
            <a:off x="685800" y="408883"/>
            <a:ext cx="10994410" cy="1305486"/>
          </a:xfrm>
          <a:prstGeom prst="rect">
            <a:avLst/>
          </a:prstGeom>
        </p:spPr>
        <p:txBody>
          <a:bodyPr vert="horz" wrap="square" lIns="0" tIns="12700" rIns="0" bIns="0" rtlCol="0">
            <a:spAutoFit/>
          </a:bodyPr>
          <a:lstStyle/>
          <a:p>
            <a:pPr algn="l"/>
            <a:r>
              <a:rPr lang="en-US" sz="1400" dirty="0">
                <a:latin typeface="Arial" panose="020B0604020202020204" pitchFamily="34" charset="0"/>
                <a:cs typeface="Arial" panose="020B0604020202020204" pitchFamily="34" charset="0"/>
              </a:rPr>
              <a:t>Part c) </a:t>
            </a:r>
            <a:r>
              <a:rPr lang="en-US" sz="1400" dirty="0" err="1">
                <a:latin typeface="Arial" panose="020B0604020202020204" pitchFamily="34" charset="0"/>
                <a:cs typeface="Arial" panose="020B0604020202020204" pitchFamily="34" charset="0"/>
              </a:rPr>
              <a:t>Floorplaning</a:t>
            </a:r>
            <a:r>
              <a:rPr lang="en-US" sz="1400" dirty="0">
                <a:latin typeface="Arial" panose="020B0604020202020204" pitchFamily="34" charset="0"/>
                <a:cs typeface="Arial" panose="020B0604020202020204" pitchFamily="34" charset="0"/>
              </a:rPr>
              <a:t> and die layout</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 Make an instance of the die as host component for your layout</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 Add 3 sets of 3 straight waveguides, from left to right of the die,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top, middle and bottom of the die</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 Add 2 of each of the components above, with different lengths</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 Connect all your components to the I/</a:t>
            </a:r>
            <a:r>
              <a:rPr lang="en-US" sz="1400" dirty="0" err="1">
                <a:latin typeface="Arial" panose="020B0604020202020204" pitchFamily="34" charset="0"/>
                <a:cs typeface="Arial" panose="020B0604020202020204" pitchFamily="34" charset="0"/>
              </a:rPr>
              <a:t>Os</a:t>
            </a:r>
            <a:r>
              <a:rPr lang="en-US" sz="1400" dirty="0">
                <a:latin typeface="Arial" panose="020B0604020202020204" pitchFamily="34" charset="0"/>
                <a:cs typeface="Arial" panose="020B0604020202020204" pitchFamily="34" charset="0"/>
              </a:rPr>
              <a:t> </a:t>
            </a:r>
          </a:p>
        </p:txBody>
      </p:sp>
      <p:pic>
        <p:nvPicPr>
          <p:cNvPr id="83" name="Gráfico 82">
            <a:extLst>
              <a:ext uri="{FF2B5EF4-FFF2-40B4-BE49-F238E27FC236}">
                <a16:creationId xmlns:a16="http://schemas.microsoft.com/office/drawing/2014/main" id="{C8584F20-9A36-ED4E-3012-D5890756C7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9134ADD-5342-C643-1149-DAE7F8026076}"/>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16DBF312-02C4-0EB0-9C79-91FB6D97012C}"/>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EF7D582F-F81F-DF43-9D64-DB5FB07A030B}"/>
              </a:ext>
            </a:extLst>
          </p:cNvPr>
          <p:cNvSpPr txBox="1"/>
          <p:nvPr/>
        </p:nvSpPr>
        <p:spPr>
          <a:xfrm>
            <a:off x="685800" y="1905000"/>
            <a:ext cx="5867400" cy="4266885"/>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27E4FB11-625A-300F-5C41-D8BEEFF8C7AF}"/>
              </a:ext>
            </a:extLst>
          </p:cNvPr>
          <p:cNvSpPr/>
          <p:nvPr/>
        </p:nvSpPr>
        <p:spPr>
          <a:xfrm>
            <a:off x="7467600" y="408883"/>
            <a:ext cx="4419599" cy="576300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1016D03-B549-9219-B4A2-D50F2131132A}"/>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CD664DC4-4DAC-B6A0-FBA1-40E035E372E3}"/>
              </a:ext>
            </a:extLst>
          </p:cNvPr>
          <p:cNvPicPr>
            <a:picLocks noChangeAspect="1"/>
          </p:cNvPicPr>
          <p:nvPr/>
        </p:nvPicPr>
        <p:blipFill>
          <a:blip r:embed="rId4"/>
          <a:stretch>
            <a:fillRect/>
          </a:stretch>
        </p:blipFill>
        <p:spPr>
          <a:xfrm>
            <a:off x="7595458" y="480063"/>
            <a:ext cx="4160952" cy="5620641"/>
          </a:xfrm>
          <a:prstGeom prst="rect">
            <a:avLst/>
          </a:prstGeom>
        </p:spPr>
      </p:pic>
      <p:pic>
        <p:nvPicPr>
          <p:cNvPr id="7" name="Imagen 6">
            <a:extLst>
              <a:ext uri="{FF2B5EF4-FFF2-40B4-BE49-F238E27FC236}">
                <a16:creationId xmlns:a16="http://schemas.microsoft.com/office/drawing/2014/main" id="{9636D07A-4B6E-26AE-86A2-4A4A3D4B1CF7}"/>
              </a:ext>
            </a:extLst>
          </p:cNvPr>
          <p:cNvPicPr>
            <a:picLocks noChangeAspect="1"/>
          </p:cNvPicPr>
          <p:nvPr/>
        </p:nvPicPr>
        <p:blipFill>
          <a:blip r:embed="rId5"/>
          <a:stretch>
            <a:fillRect/>
          </a:stretch>
        </p:blipFill>
        <p:spPr>
          <a:xfrm>
            <a:off x="937838" y="1990248"/>
            <a:ext cx="5363323" cy="4058216"/>
          </a:xfrm>
          <a:prstGeom prst="rect">
            <a:avLst/>
          </a:prstGeom>
        </p:spPr>
      </p:pic>
    </p:spTree>
    <p:extLst>
      <p:ext uri="{BB962C8B-B14F-4D97-AF65-F5344CB8AC3E}">
        <p14:creationId xmlns:p14="http://schemas.microsoft.com/office/powerpoint/2010/main" val="3860456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ED008C-9394-E867-D764-F717A1595B95}"/>
              </a:ext>
            </a:extLst>
          </p:cNvPr>
          <p:cNvSpPr>
            <a:spLocks noGrp="1"/>
          </p:cNvSpPr>
          <p:nvPr>
            <p:ph type="title"/>
          </p:nvPr>
        </p:nvSpPr>
        <p:spPr/>
        <p:txBody>
          <a:bodyPr/>
          <a:lstStyle/>
          <a:p>
            <a:r>
              <a:rPr lang="es-ES" dirty="0" err="1"/>
              <a:t>Conclusion</a:t>
            </a:r>
            <a:endParaRPr lang="es-ES" dirty="0"/>
          </a:p>
        </p:txBody>
      </p:sp>
      <p:sp>
        <p:nvSpPr>
          <p:cNvPr id="3" name="Marcador de texto 2">
            <a:extLst>
              <a:ext uri="{FF2B5EF4-FFF2-40B4-BE49-F238E27FC236}">
                <a16:creationId xmlns:a16="http://schemas.microsoft.com/office/drawing/2014/main" id="{949378CC-D4AE-E2DD-AC3B-B92E35B46F86}"/>
              </a:ext>
            </a:extLst>
          </p:cNvPr>
          <p:cNvSpPr>
            <a:spLocks noGrp="1"/>
          </p:cNvSpPr>
          <p:nvPr>
            <p:ph type="body" idx="1"/>
          </p:nvPr>
        </p:nvSpPr>
        <p:spPr>
          <a:xfrm>
            <a:off x="609600" y="1219200"/>
            <a:ext cx="10972800" cy="2400657"/>
          </a:xfrm>
        </p:spPr>
        <p:txBody>
          <a:bodyPr/>
          <a:lstStyle/>
          <a:p>
            <a:pPr rtl="0"/>
            <a:r>
              <a:rPr lang="es-ES" sz="1200" dirty="0">
                <a:latin typeface="Arial" panose="020B0604020202020204" pitchFamily="34" charset="0"/>
                <a:cs typeface="Arial" panose="020B0604020202020204" pitchFamily="34" charset="0"/>
              </a:rPr>
              <a:t>Me gustaría añadir esta diapositiva para explicar una conclusión y redactar algunos de los problemas que hemos tenido durante el desarrollo de la práctica:</a:t>
            </a:r>
          </a:p>
          <a:p>
            <a:pPr rtl="0"/>
            <a:endParaRPr lang="es-ES" sz="1200" dirty="0">
              <a:latin typeface="Arial" panose="020B0604020202020204" pitchFamily="34" charset="0"/>
              <a:cs typeface="Arial" panose="020B0604020202020204" pitchFamily="34" charset="0"/>
            </a:endParaRPr>
          </a:p>
          <a:p>
            <a:pPr rtl="0"/>
            <a:r>
              <a:rPr lang="es-ES" sz="1200" dirty="0">
                <a:latin typeface="Arial" panose="020B0604020202020204" pitchFamily="34" charset="0"/>
                <a:cs typeface="Arial" panose="020B0604020202020204" pitchFamily="34" charset="0"/>
              </a:rPr>
              <a:t>- Fallo de </a:t>
            </a:r>
            <a:r>
              <a:rPr lang="es-ES" sz="1200" dirty="0" err="1">
                <a:latin typeface="Arial" panose="020B0604020202020204" pitchFamily="34" charset="0"/>
                <a:cs typeface="Arial" panose="020B0604020202020204" pitchFamily="34" charset="0"/>
              </a:rPr>
              <a:t>Mismatch</a:t>
            </a:r>
            <a:r>
              <a:rPr lang="es-ES" sz="1200" dirty="0">
                <a:latin typeface="Arial" panose="020B0604020202020204" pitchFamily="34" charset="0"/>
                <a:cs typeface="Arial" panose="020B0604020202020204" pitchFamily="34" charset="0"/>
              </a:rPr>
              <a:t> (Capas): Tuvimos errores de compatibilidad al conectar elementos entre la capa genérica WG y el perfil </a:t>
            </a:r>
            <a:r>
              <a:rPr lang="es-ES" sz="1200" dirty="0" err="1">
                <a:latin typeface="Arial" panose="020B0604020202020204" pitchFamily="34" charset="0"/>
                <a:cs typeface="Arial" panose="020B0604020202020204" pitchFamily="34" charset="0"/>
              </a:rPr>
              <a:t>cross_section_strip</a:t>
            </a:r>
            <a:r>
              <a:rPr lang="es-ES" sz="1200" dirty="0">
                <a:latin typeface="Arial" panose="020B0604020202020204" pitchFamily="34" charset="0"/>
                <a:cs typeface="Arial" panose="020B0604020202020204" pitchFamily="34" charset="0"/>
              </a:rPr>
              <a:t> por diferencias en sus grosores.</a:t>
            </a:r>
          </a:p>
          <a:p>
            <a:pPr rtl="0"/>
            <a:r>
              <a:rPr lang="es-ES" sz="1200" dirty="0">
                <a:latin typeface="Arial" panose="020B0604020202020204" pitchFamily="34" charset="0"/>
                <a:cs typeface="Arial" panose="020B0604020202020204" pitchFamily="34" charset="0"/>
              </a:rPr>
              <a:t>- El diseño del MZI: El mayor problema fue calcular las posiciones a mano con </a:t>
            </a:r>
            <a:r>
              <a:rPr lang="es-ES" sz="1200" dirty="0" err="1">
                <a:latin typeface="Arial" panose="020B0604020202020204" pitchFamily="34" charset="0"/>
                <a:cs typeface="Arial" panose="020B0604020202020204" pitchFamily="34" charset="0"/>
              </a:rPr>
              <a:t>dmove</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drotate</a:t>
            </a:r>
            <a:r>
              <a:rPr lang="es-ES" sz="1200" dirty="0">
                <a:latin typeface="Arial" panose="020B0604020202020204" pitchFamily="34" charset="0"/>
                <a:cs typeface="Arial" panose="020B0604020202020204" pitchFamily="34" charset="0"/>
              </a:rPr>
              <a:t>. Cualquier cambio de espaciado o radio desalineaba todo, haciendo que las líneas se cruzaran o solaparan en el centro.</a:t>
            </a:r>
          </a:p>
          <a:p>
            <a:pPr rtl="0"/>
            <a:r>
              <a:rPr lang="es-ES" sz="1200" dirty="0">
                <a:latin typeface="Arial" panose="020B0604020202020204" pitchFamily="34" charset="0"/>
                <a:cs typeface="Arial" panose="020B0604020202020204" pitchFamily="34" charset="0"/>
              </a:rPr>
              <a:t>- Solución con .</a:t>
            </a:r>
            <a:r>
              <a:rPr lang="es-ES" sz="1200" dirty="0" err="1">
                <a:latin typeface="Arial" panose="020B0604020202020204" pitchFamily="34" charset="0"/>
                <a:cs typeface="Arial" panose="020B0604020202020204" pitchFamily="34" charset="0"/>
              </a:rPr>
              <a:t>connect</a:t>
            </a:r>
            <a:r>
              <a:rPr lang="es-ES" sz="1200" dirty="0">
                <a:latin typeface="Arial" panose="020B0604020202020204" pitchFamily="34" charset="0"/>
                <a:cs typeface="Arial" panose="020B0604020202020204" pitchFamily="34" charset="0"/>
              </a:rPr>
              <a:t>(): Tras millones de pruebas y errores, reestructuramos el código usando el método .</a:t>
            </a:r>
            <a:r>
              <a:rPr lang="es-ES" sz="1200" dirty="0" err="1">
                <a:latin typeface="Arial" panose="020B0604020202020204" pitchFamily="34" charset="0"/>
                <a:cs typeface="Arial" panose="020B0604020202020204" pitchFamily="34" charset="0"/>
              </a:rPr>
              <a:t>connect</a:t>
            </a:r>
            <a:r>
              <a:rPr lang="es-ES" sz="1200" dirty="0">
                <a:latin typeface="Arial" panose="020B0604020202020204" pitchFamily="34" charset="0"/>
                <a:cs typeface="Arial" panose="020B0604020202020204" pitchFamily="34" charset="0"/>
              </a:rPr>
              <a:t>(). Así logramos que las guías se acoplaran por sus puertos de forma automática y perfecta.</a:t>
            </a:r>
          </a:p>
          <a:p>
            <a:pPr rtl="0"/>
            <a:r>
              <a:rPr lang="es-ES" sz="1200" dirty="0">
                <a:latin typeface="Arial" panose="020B0604020202020204" pitchFamily="34" charset="0"/>
                <a:cs typeface="Arial" panose="020B0604020202020204" pitchFamily="34" charset="0"/>
              </a:rPr>
              <a:t>- Medidas Exageradas Adrede: En los apartados 2 y 3, modificamos intencionadamente algunas dimensiones para que se pueda apreciar visualmente de forma clara cómo varían los resultados según los parámetros.</a:t>
            </a:r>
          </a:p>
          <a:p>
            <a:pPr marL="171450" indent="-171450" rtl="0">
              <a:buFontTx/>
              <a:buChar char="-"/>
            </a:pPr>
            <a:endParaRPr lang="es-ES" sz="1200" dirty="0">
              <a:latin typeface="Arial" panose="020B0604020202020204" pitchFamily="34" charset="0"/>
              <a:cs typeface="Arial" panose="020B0604020202020204" pitchFamily="34" charset="0"/>
            </a:endParaRPr>
          </a:p>
          <a:p>
            <a:pPr rtl="0"/>
            <a:r>
              <a:rPr lang="es-ES" sz="1200" dirty="0">
                <a:latin typeface="Arial" panose="020B0604020202020204" pitchFamily="34" charset="0"/>
                <a:cs typeface="Arial" panose="020B0604020202020204" pitchFamily="34" charset="0"/>
              </a:rPr>
              <a:t>Conclusión: Ha sido un proceso largo e intenso de prueba y error, pero nos ha servido para dominar las reglas de diseño del PDK de UPVFAB y entender cómo diseñar componentes fotónicos reales.</a:t>
            </a:r>
          </a:p>
        </p:txBody>
      </p:sp>
      <p:sp>
        <p:nvSpPr>
          <p:cNvPr id="4" name="Marcador de pie de página 3">
            <a:extLst>
              <a:ext uri="{FF2B5EF4-FFF2-40B4-BE49-F238E27FC236}">
                <a16:creationId xmlns:a16="http://schemas.microsoft.com/office/drawing/2014/main" id="{70BFFE4A-4257-458E-445B-86EE92443BA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5" name="Marcador de número de diapositiva 4">
            <a:extLst>
              <a:ext uri="{FF2B5EF4-FFF2-40B4-BE49-F238E27FC236}">
                <a16:creationId xmlns:a16="http://schemas.microsoft.com/office/drawing/2014/main" id="{CA7793B2-A62E-74DE-8D55-15A9BC7FA5C7}"/>
              </a:ext>
            </a:extLst>
          </p:cNvPr>
          <p:cNvSpPr>
            <a:spLocks noGrp="1"/>
          </p:cNvSpPr>
          <p:nvPr>
            <p:ph type="sldNum" sz="quarter" idx="7"/>
          </p:nvPr>
        </p:nvSpPr>
        <p:spPr/>
        <p:txBody>
          <a:bodyPr/>
          <a:lstStyle/>
          <a:p>
            <a:fld id="{B6F15528-21DE-4FAA-801E-634DDDAF4B2B}" type="slidenum">
              <a:rPr lang="es-ES" smtClean="0"/>
              <a:t>25</a:t>
            </a:fld>
            <a:endParaRPr lang="es-ES"/>
          </a:p>
        </p:txBody>
      </p:sp>
    </p:spTree>
    <p:extLst>
      <p:ext uri="{BB962C8B-B14F-4D97-AF65-F5344CB8AC3E}">
        <p14:creationId xmlns:p14="http://schemas.microsoft.com/office/powerpoint/2010/main" val="67184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26</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964CC2388606E4FAB26D10C89AC05DD" ma:contentTypeVersion="13" ma:contentTypeDescription="Crear nuevo documento." ma:contentTypeScope="" ma:versionID="483d6543de73f5fb1d76552cec7cbeb9">
  <xsd:schema xmlns:xsd="http://www.w3.org/2001/XMLSchema" xmlns:xs="http://www.w3.org/2001/XMLSchema" xmlns:p="http://schemas.microsoft.com/office/2006/metadata/properties" xmlns:ns3="6f76bca3-140c-4d08-b44a-1dad11d2ba1b" xmlns:ns4="bdfa4920-4a75-49f5-ae83-2f04d0a28bc5" targetNamespace="http://schemas.microsoft.com/office/2006/metadata/properties" ma:root="true" ma:fieldsID="98086e6c31ff8f986c29a49541ac5796" ns3:_="" ns4:_="">
    <xsd:import namespace="6f76bca3-140c-4d08-b44a-1dad11d2ba1b"/>
    <xsd:import namespace="bdfa4920-4a75-49f5-ae83-2f04d0a28bc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76bca3-140c-4d08-b44a-1dad11d2ba1b"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fa4920-4a75-49f5-ae83-2f04d0a28bc5" elementFormDefault="qualified">
    <xsd:import namespace="http://schemas.microsoft.com/office/2006/documentManagement/types"/>
    <xsd:import namespace="http://schemas.microsoft.com/office/infopath/2007/PartnerControls"/>
    <xsd:element name="SharedWithUsers" ma:index="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Detalles de uso compartido" ma:internalName="SharedWithDetails" ma:readOnly="true">
      <xsd:simpleType>
        <xsd:restriction base="dms:Note">
          <xsd:maxLength value="255"/>
        </xsd:restriction>
      </xsd:simpleType>
    </xsd:element>
    <xsd:element name="SharingHintHash" ma:index="11"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6f76bca3-140c-4d08-b44a-1dad11d2ba1b" xsi:nil="true"/>
  </documentManagement>
</p:properties>
</file>

<file path=customXml/itemProps1.xml><?xml version="1.0" encoding="utf-8"?>
<ds:datastoreItem xmlns:ds="http://schemas.openxmlformats.org/officeDocument/2006/customXml" ds:itemID="{7B2672D6-BF97-468F-9452-BE8150431475}">
  <ds:schemaRefs>
    <ds:schemaRef ds:uri="http://schemas.microsoft.com/sharepoint/v3/contenttype/forms"/>
  </ds:schemaRefs>
</ds:datastoreItem>
</file>

<file path=customXml/itemProps2.xml><?xml version="1.0" encoding="utf-8"?>
<ds:datastoreItem xmlns:ds="http://schemas.openxmlformats.org/officeDocument/2006/customXml" ds:itemID="{0C44408A-1C73-453E-B3F3-DDE66AFEE2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76bca3-140c-4d08-b44a-1dad11d2ba1b"/>
    <ds:schemaRef ds:uri="bdfa4920-4a75-49f5-ae83-2f04d0a28b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3DF17A-944D-4064-85F9-C14AFA98AE80}">
  <ds:schemaRefs>
    <ds:schemaRef ds:uri="http://purl.org/dc/dcmitype/"/>
    <ds:schemaRef ds:uri="http://purl.org/dc/terms/"/>
    <ds:schemaRef ds:uri="6f76bca3-140c-4d08-b44a-1dad11d2ba1b"/>
    <ds:schemaRef ds:uri="http://www.w3.org/XML/1998/namespace"/>
    <ds:schemaRef ds:uri="http://schemas.microsoft.com/office/2006/metadata/properties"/>
    <ds:schemaRef ds:uri="http://schemas.openxmlformats.org/package/2006/metadata/core-properties"/>
    <ds:schemaRef ds:uri="http://schemas.microsoft.com/office/2006/documentManagement/types"/>
    <ds:schemaRef ds:uri="http://schemas.microsoft.com/office/infopath/2007/PartnerControls"/>
    <ds:schemaRef ds:uri="bdfa4920-4a75-49f5-ae83-2f04d0a28bc5"/>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1019</TotalTime>
  <Words>3811</Words>
  <Application>Microsoft Office PowerPoint</Application>
  <PresentationFormat>Panorámica</PresentationFormat>
  <Paragraphs>205</Paragraphs>
  <Slides>26</Slides>
  <Notes>22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26</vt:i4>
      </vt:variant>
    </vt:vector>
  </HeadingPairs>
  <TitlesOfParts>
    <vt:vector size="32"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Learning outcome #1b – Notebook section 1. Technology – 1 slide per component “Use your design results from Lab2 and Lab3 to create layout instances of your designed components: DCs”</vt:lpstr>
      <vt:lpstr>Learning outcome #1b – Notebook section 1. Technology – 1 slide per component “Use your design results from Lab2 and Lab3 to create layout instances of your designed components: MMIs”</vt:lpstr>
      <vt:lpstr>Learning outcome #1b – Notebook section 1. Technology – 1 slide per component “Use your design results from Lab2 and Lab3 to create layout instances of your designed components: MZIs”</vt:lpstr>
      <vt:lpstr>Learning outcome #1b – Notebook section 1. Technology – 1 slide per component “Use your design results from Lab2 and Lab3 to create layout instances of your designed components: RINGs”</vt:lpstr>
      <vt:lpstr>Learning outcome #2a – Notebook section 2. Layout Fundamentals “Once that we have a working 'new' component, we shall convert it into a Cell. This will allow us to have a hierarchical design”</vt:lpstr>
      <vt:lpstr>Learning outcome #2a – Notebook section 2. Layout Fundamentals – 1 slide per component “Use your design results from Lab2 and Lab3 to create layout instances of your designed components: DCs”  Make cells for all your components</vt:lpstr>
      <vt:lpstr>Learning outcome #2a – Notebook section 2. Layout Fundamentals – 1 slide per component “Use your design results from Lab2 and Lab3 to create layout instances of your designed components: MMIs”  Make cells for all your components</vt:lpstr>
      <vt:lpstr>Learning outcome #2a – Notebook section 2. Layout Fundamentals – 1 slide per component “Use your design results from Lab2 and Lab3 to create layout instances of your designed components: MZIs”  Make cells for all your components</vt:lpstr>
      <vt:lpstr>Learning outcome #2a – Notebook section 2. Layout Fundamentals – 1 slide per component “Use your design results from Lab2 and Lab3 to create layout instances of your designed components: RINGs”  Make cells for all your components</vt:lpstr>
      <vt:lpstr>Learning outcome #3 – Notebook section 3. Complete layout</vt:lpstr>
      <vt:lpstr>Learning outcome #3 – Notebook section 3. Complete layout</vt:lpstr>
      <vt:lpstr>Learning outcome #3 – Notebook section 3. Complete layout</vt:lpstr>
      <vt:lpstr>Learning outcome #3 – Notebook section 3. Complete layout</vt:lpstr>
      <vt:lpstr>Presentación de PowerPoint</vt:lpstr>
      <vt:lpstr>- Create a cell component for a unbalanced MZI, using 2x2 50:50 MMIs with arm length difference as parameter</vt:lpstr>
      <vt:lpstr>- Create a cell component based on the previous, where the arms have thermal tuners on top of each one</vt:lpstr>
      <vt:lpstr>- Create a cell component for an all-pass ring resonator, using 2x2 50:50 MMIs, with extra length parameter for different perimeters</vt:lpstr>
      <vt:lpstr>- Create a cell component based on the previous, where the ring has a thermal tuner on top along all the perimeter</vt:lpstr>
      <vt:lpstr>- Create a cell component based on existing GDSfactory spiral components, with length as parameter</vt:lpstr>
      <vt:lpstr>Part b) Creating die - Create a die  W = 5 mm x L = 10 mm  - Create an array of I/Os spaced at 250 µm (as much I/Os as the width allows) - Create a cell component of this die, with I/Os accessible to connect</vt:lpstr>
      <vt:lpstr>Part c) Floorplaning and die layout - Make an instance of the die as host component for your layout - Add 3 sets of 3 straight waveguides, from left to right of the die,  top, middle and bottom of the die - Add 2 of each of the components above, with different lengths - Connect all your components to the I/Os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Jaume Francesc Gimenez Lozano</cp:lastModifiedBy>
  <cp:revision>26</cp:revision>
  <dcterms:created xsi:type="dcterms:W3CDTF">2025-01-27T02:46:57Z</dcterms:created>
  <dcterms:modified xsi:type="dcterms:W3CDTF">2026-06-12T09:13:36Z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0x0101003964CC2388606E4FAB26D10C89AC05DD</vt:lpwstr>
  </property>
</Properties>
</file>